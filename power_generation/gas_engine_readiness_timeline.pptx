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engine / turbine readiness timeline — IHI, HD Hyundai, Wärtsilä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457200"/>
            <a:ext cx="1152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MYSGH2 power-generation OEM survey — ammonia &amp; hydrogen gensets/turbines, by OEM, plus Gentari's study-to-commercialisation pathway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880360" y="713232"/>
            <a:ext cx="146304" cy="146304"/>
          </a:xfrm>
          <a:prstGeom prst="star5">
            <a:avLst/>
          </a:prstGeom>
          <a:solidFill>
            <a:srgbClr val="EDA100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172968" y="676656"/>
            <a:ext cx="19339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readiness (confirmed)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43500" y="713232"/>
            <a:ext cx="146304" cy="146304"/>
          </a:xfrm>
          <a:prstGeom prst="star5">
            <a:avLst/>
          </a:prstGeom>
          <a:solidFill>
            <a:srgbClr val="FCFCFB">
              <a:alpha val="0"/>
            </a:srgbClr>
          </a:solidFill>
          <a:ln w="15875">
            <a:solidFill>
              <a:srgbClr val="5251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36108" y="676656"/>
            <a:ext cx="19339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readiness (target, unverified)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06640" y="740664"/>
            <a:ext cx="237744" cy="118872"/>
          </a:xfrm>
          <a:prstGeom prst="rect">
            <a:avLst/>
          </a:prstGeom>
          <a:solidFill>
            <a:srgbClr val="52514E">
              <a:alpha val="35000"/>
            </a:srgbClr>
          </a:solidFill>
          <a:ln w="12700">
            <a:solidFill>
              <a:srgbClr val="52514E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7699248" y="676656"/>
            <a:ext cx="19339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/ uncertain period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69780" y="740664"/>
            <a:ext cx="237744" cy="118872"/>
          </a:xfrm>
          <a:prstGeom prst="rect">
            <a:avLst/>
          </a:prstGeom>
          <a:solidFill>
            <a:srgbClr val="5251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962388" y="676656"/>
            <a:ext cx="19339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/ confirmed period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115568"/>
            <a:ext cx="11658600" cy="1012241"/>
          </a:xfrm>
          <a:prstGeom prst="rect">
            <a:avLst/>
          </a:prstGeom>
          <a:solidFill>
            <a:srgbClr val="2A78D6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1115568"/>
            <a:ext cx="11658600" cy="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03120"/>
            <a:ext cx="11658600" cy="1012241"/>
          </a:xfrm>
          <a:prstGeom prst="rect">
            <a:avLst/>
          </a:prstGeom>
          <a:solidFill>
            <a:srgbClr val="EB6834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103120"/>
            <a:ext cx="11658600" cy="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090672"/>
            <a:ext cx="11658600" cy="765353"/>
          </a:xfrm>
          <a:prstGeom prst="rect">
            <a:avLst/>
          </a:prstGeom>
          <a:solidFill>
            <a:srgbClr val="1BAF7A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3090672"/>
            <a:ext cx="11658600" cy="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856025"/>
            <a:ext cx="11658600" cy="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20415" y="1115568"/>
            <a:ext cx="0" cy="2740457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74795" y="1115568"/>
            <a:ext cx="0" cy="2740457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9175" y="1115568"/>
            <a:ext cx="0" cy="2740457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83555" y="1115568"/>
            <a:ext cx="0" cy="2740457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37935" y="1115568"/>
            <a:ext cx="0" cy="2740457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92315" y="1115568"/>
            <a:ext cx="0" cy="2740457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46695" y="1115568"/>
            <a:ext cx="0" cy="2740457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01075" y="1115568"/>
            <a:ext cx="0" cy="2740457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55455" y="1115568"/>
            <a:ext cx="0" cy="2740457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09835" y="1115568"/>
            <a:ext cx="0" cy="2740457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64215" y="1115568"/>
            <a:ext cx="0" cy="2740457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618595" y="1115568"/>
            <a:ext cx="0" cy="2740457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00375" y="914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754755" y="914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09135" y="914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263515" y="914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017895" y="914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772275" y="914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526655" y="914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281035" y="914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035415" y="914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789795" y="914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0544175" y="914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298555" y="914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2031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74320" y="1115568"/>
            <a:ext cx="11658600" cy="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82684" y="1115568"/>
            <a:ext cx="0" cy="2740457"/>
          </a:xfrm>
          <a:prstGeom prst="line">
            <a:avLst/>
          </a:prstGeom>
          <a:noFill/>
          <a:ln w="13970">
            <a:solidFill>
              <a:srgbClr val="898781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8428404" y="11338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17 Sep 2026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320040" y="112791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IHI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502920" y="137480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IM270 ammonia GT (2 MW) — test → Terengganu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886200" y="1429664"/>
            <a:ext cx="4714875" cy="13716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9" name="Shape 47"/>
          <p:cNvSpPr/>
          <p:nvPr/>
        </p:nvSpPr>
        <p:spPr>
          <a:xfrm>
            <a:off x="8601075" y="1429664"/>
            <a:ext cx="691515" cy="137160"/>
          </a:xfrm>
          <a:prstGeom prst="rect">
            <a:avLst/>
          </a:prstGeom>
          <a:solidFill>
            <a:srgbClr val="2A78D6">
              <a:alpha val="35000"/>
            </a:srgbClr>
          </a:solidFill>
          <a:ln w="12700">
            <a:solidFill>
              <a:srgbClr val="2A78D6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3854196" y="1466240"/>
            <a:ext cx="64008" cy="6400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51" name="Shape 49"/>
          <p:cNvSpPr/>
          <p:nvPr/>
        </p:nvSpPr>
        <p:spPr>
          <a:xfrm>
            <a:off x="9260586" y="1466240"/>
            <a:ext cx="64008" cy="6400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52" name="Shape 50"/>
          <p:cNvSpPr/>
          <p:nvPr/>
        </p:nvSpPr>
        <p:spPr>
          <a:xfrm>
            <a:off x="8523351" y="1420520"/>
            <a:ext cx="155448" cy="155448"/>
          </a:xfrm>
          <a:prstGeom prst="star5">
            <a:avLst/>
          </a:prstGeom>
          <a:solidFill>
            <a:srgbClr val="EDA100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863715" y="15531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from 2027</a:t>
            </a:r>
            <a:endParaRPr lang="en-US" sz="750" dirty="0"/>
          </a:p>
        </p:txBody>
      </p:sp>
      <p:sp>
        <p:nvSpPr>
          <p:cNvPr id="54" name="Text 52"/>
          <p:cNvSpPr txBox="1"/>
          <p:nvPr/>
        </p:nvSpPr>
        <p:spPr>
          <a:xfrm>
            <a:off x="502920" y="162168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18V28ADF ammonia 4-stroke (6 MW)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092315" y="1676552"/>
            <a:ext cx="1697355" cy="137160"/>
          </a:xfrm>
          <a:prstGeom prst="rect">
            <a:avLst/>
          </a:prstGeom>
          <a:solidFill>
            <a:srgbClr val="2A78D6">
              <a:alpha val="35000"/>
            </a:srgbClr>
          </a:solidFill>
          <a:ln w="12700">
            <a:solidFill>
              <a:srgbClr val="2A78D6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7060311" y="1713128"/>
            <a:ext cx="64008" cy="6400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57" name="Shape 55"/>
          <p:cNvSpPr/>
          <p:nvPr/>
        </p:nvSpPr>
        <p:spPr>
          <a:xfrm>
            <a:off x="8757666" y="1713128"/>
            <a:ext cx="64008" cy="6400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58" name="Shape 56"/>
          <p:cNvSpPr/>
          <p:nvPr/>
        </p:nvSpPr>
        <p:spPr>
          <a:xfrm>
            <a:off x="8711946" y="1667408"/>
            <a:ext cx="155448" cy="155448"/>
          </a:xfrm>
          <a:prstGeom prst="star5">
            <a:avLst/>
          </a:prstGeom>
          <a:solidFill>
            <a:srgbClr val="EDA100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835390" y="15073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from JFY2027</a:t>
            </a:r>
            <a:endParaRPr lang="en-US" sz="750" dirty="0"/>
          </a:p>
        </p:txBody>
      </p:sp>
      <p:sp>
        <p:nvSpPr>
          <p:cNvPr id="60" name="Text 58"/>
          <p:cNvSpPr txBox="1"/>
          <p:nvPr/>
        </p:nvSpPr>
        <p:spPr>
          <a:xfrm>
            <a:off x="502920" y="186857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IHI + GE Vernova F-class (ammonia GT)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337935" y="1923440"/>
            <a:ext cx="1634490" cy="13716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62" name="Shape 60"/>
          <p:cNvSpPr/>
          <p:nvPr/>
        </p:nvSpPr>
        <p:spPr>
          <a:xfrm>
            <a:off x="7972425" y="1923440"/>
            <a:ext cx="3583305" cy="137160"/>
          </a:xfrm>
          <a:prstGeom prst="rect">
            <a:avLst/>
          </a:prstGeom>
          <a:solidFill>
            <a:srgbClr val="2A78D6">
              <a:alpha val="35000"/>
            </a:srgbClr>
          </a:solidFill>
          <a:ln w="12700">
            <a:solidFill>
              <a:srgbClr val="2A78D6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6305931" y="1960016"/>
            <a:ext cx="64008" cy="6400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64" name="Shape 62"/>
          <p:cNvSpPr/>
          <p:nvPr/>
        </p:nvSpPr>
        <p:spPr>
          <a:xfrm>
            <a:off x="11523726" y="1960016"/>
            <a:ext cx="64008" cy="6400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65" name="Shape 63"/>
          <p:cNvSpPr/>
          <p:nvPr/>
        </p:nvSpPr>
        <p:spPr>
          <a:xfrm>
            <a:off x="11478006" y="1914296"/>
            <a:ext cx="155448" cy="155448"/>
          </a:xfrm>
          <a:prstGeom prst="star5">
            <a:avLst/>
          </a:prstGeom>
          <a:solidFill>
            <a:srgbClr val="FCFCFB">
              <a:alpha val="0"/>
            </a:srgbClr>
          </a:solidFill>
          <a:ln w="15875">
            <a:solidFill>
              <a:srgbClr val="52514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818370" y="20468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~2030</a:t>
            </a:r>
            <a:endParaRPr lang="en-US" sz="750" dirty="0"/>
          </a:p>
        </p:txBody>
      </p:sp>
      <p:sp>
        <p:nvSpPr>
          <p:cNvPr id="67" name="Text 65"/>
          <p:cNvSpPr txBox="1"/>
          <p:nvPr/>
        </p:nvSpPr>
        <p:spPr>
          <a:xfrm>
            <a:off x="320040" y="211546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Hyundai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502920" y="236235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HiMSEN pure-H₂ 4-stroke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652260" y="2417216"/>
            <a:ext cx="1131570" cy="137160"/>
          </a:xfrm>
          <a:prstGeom prst="rect">
            <a:avLst/>
          </a:prstGeom>
          <a:solidFill>
            <a:srgbClr val="EB6834">
              <a:alpha val="35000"/>
            </a:srgbClr>
          </a:solidFill>
          <a:ln w="12700">
            <a:solidFill>
              <a:srgbClr val="EB6834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6620256" y="2453792"/>
            <a:ext cx="64008" cy="6400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71" name="Shape 69"/>
          <p:cNvSpPr/>
          <p:nvPr/>
        </p:nvSpPr>
        <p:spPr>
          <a:xfrm>
            <a:off x="7751826" y="2453792"/>
            <a:ext cx="64008" cy="6400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72" name="Shape 70"/>
          <p:cNvSpPr/>
          <p:nvPr/>
        </p:nvSpPr>
        <p:spPr>
          <a:xfrm>
            <a:off x="7706106" y="2408072"/>
            <a:ext cx="155448" cy="155448"/>
          </a:xfrm>
          <a:prstGeom prst="star5">
            <a:avLst/>
          </a:prstGeom>
          <a:solidFill>
            <a:srgbClr val="FCFCFB">
              <a:alpha val="0"/>
            </a:srgbClr>
          </a:solidFill>
          <a:ln w="15875">
            <a:solidFill>
              <a:srgbClr val="52514E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829550" y="22480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claim unverified</a:t>
            </a:r>
            <a:endParaRPr lang="en-US" sz="750" dirty="0"/>
          </a:p>
        </p:txBody>
      </p:sp>
      <p:sp>
        <p:nvSpPr>
          <p:cNvPr id="74" name="Text 72"/>
          <p:cNvSpPr txBox="1"/>
          <p:nvPr/>
        </p:nvSpPr>
        <p:spPr>
          <a:xfrm>
            <a:off x="502920" y="260924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Infracore roadmap, 11L H₂ engine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092315" y="2664104"/>
            <a:ext cx="1445895" cy="137160"/>
          </a:xfrm>
          <a:prstGeom prst="rect">
            <a:avLst/>
          </a:prstGeom>
          <a:solidFill>
            <a:srgbClr val="EB6834">
              <a:alpha val="35000"/>
            </a:srgbClr>
          </a:solidFill>
          <a:ln w="12700">
            <a:solidFill>
              <a:srgbClr val="EB6834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7060311" y="2700680"/>
            <a:ext cx="64008" cy="6400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77" name="Shape 75"/>
          <p:cNvSpPr/>
          <p:nvPr/>
        </p:nvSpPr>
        <p:spPr>
          <a:xfrm>
            <a:off x="8506206" y="2700680"/>
            <a:ext cx="64008" cy="6400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78" name="Shape 76"/>
          <p:cNvSpPr/>
          <p:nvPr/>
        </p:nvSpPr>
        <p:spPr>
          <a:xfrm>
            <a:off x="8460486" y="2654960"/>
            <a:ext cx="155448" cy="155448"/>
          </a:xfrm>
          <a:prstGeom prst="star5">
            <a:avLst/>
          </a:prstGeom>
          <a:solidFill>
            <a:srgbClr val="FCFCFB">
              <a:alpha val="0"/>
            </a:srgbClr>
          </a:solidFill>
          <a:ln w="15875">
            <a:solidFill>
              <a:srgbClr val="52514E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583930" y="24949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Power-gen target 2026</a:t>
            </a:r>
            <a:endParaRPr lang="en-US" sz="750" dirty="0"/>
          </a:p>
        </p:txBody>
      </p:sp>
      <p:sp>
        <p:nvSpPr>
          <p:cNvPr id="80" name="Text 78"/>
          <p:cNvSpPr txBox="1"/>
          <p:nvPr/>
        </p:nvSpPr>
        <p:spPr>
          <a:xfrm>
            <a:off x="502920" y="285612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HiMSEN ammonia genset (stationary)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846695" y="2910992"/>
            <a:ext cx="1823085" cy="137160"/>
          </a:xfrm>
          <a:prstGeom prst="rect">
            <a:avLst/>
          </a:prstGeom>
          <a:solidFill>
            <a:srgbClr val="EB6834">
              <a:alpha val="35000"/>
            </a:srgbClr>
          </a:solidFill>
          <a:ln w="12700">
            <a:solidFill>
              <a:srgbClr val="EB6834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7814691" y="2947568"/>
            <a:ext cx="64008" cy="6400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83" name="Shape 81"/>
          <p:cNvSpPr/>
          <p:nvPr/>
        </p:nvSpPr>
        <p:spPr>
          <a:xfrm>
            <a:off x="9637776" y="2947568"/>
            <a:ext cx="64008" cy="6400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9724644" y="28789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stated, no date confirmed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320040" y="310301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Wärtsilä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502920" y="334990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Ammonia (1.9–3.1 MW)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5583555" y="3404768"/>
            <a:ext cx="2200275" cy="13716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88" name="Shape 86"/>
          <p:cNvSpPr/>
          <p:nvPr/>
        </p:nvSpPr>
        <p:spPr>
          <a:xfrm>
            <a:off x="7846695" y="3404768"/>
            <a:ext cx="2200275" cy="137160"/>
          </a:xfrm>
          <a:prstGeom prst="rect">
            <a:avLst/>
          </a:prstGeom>
          <a:solidFill>
            <a:srgbClr val="1BAF7A">
              <a:alpha val="35000"/>
            </a:srgbClr>
          </a:solidFill>
          <a:ln w="12700">
            <a:solidFill>
              <a:srgbClr val="1BAF7A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5551551" y="3441344"/>
            <a:ext cx="64008" cy="6400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90" name="Shape 88"/>
          <p:cNvSpPr/>
          <p:nvPr/>
        </p:nvSpPr>
        <p:spPr>
          <a:xfrm>
            <a:off x="10014966" y="3441344"/>
            <a:ext cx="64008" cy="6400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91" name="Shape 89"/>
          <p:cNvSpPr/>
          <p:nvPr/>
        </p:nvSpPr>
        <p:spPr>
          <a:xfrm>
            <a:off x="7768971" y="3395624"/>
            <a:ext cx="155448" cy="155448"/>
          </a:xfrm>
          <a:prstGeom prst="star5">
            <a:avLst/>
          </a:prstGeom>
          <a:solidFill>
            <a:srgbClr val="FCFCFB">
              <a:alpha val="0"/>
            </a:srgbClr>
          </a:solidFill>
          <a:ln w="15875">
            <a:solidFill>
              <a:srgbClr val="52514E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6109335" y="35282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2026?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9969246" y="3395624"/>
            <a:ext cx="155448" cy="155448"/>
          </a:xfrm>
          <a:prstGeom prst="star5">
            <a:avLst/>
          </a:prstGeom>
          <a:solidFill>
            <a:srgbClr val="FCFCFB">
              <a:alpha val="0"/>
            </a:srgbClr>
          </a:solidFill>
          <a:ln w="15875">
            <a:solidFill>
              <a:srgbClr val="52514E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0092690" y="32356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2028?</a:t>
            </a:r>
            <a:endParaRPr lang="en-US" sz="750" dirty="0"/>
          </a:p>
        </p:txBody>
      </p:sp>
      <p:sp>
        <p:nvSpPr>
          <p:cNvPr id="95" name="Text 93"/>
          <p:cNvSpPr txBox="1"/>
          <p:nvPr/>
        </p:nvSpPr>
        <p:spPr>
          <a:xfrm>
            <a:off x="502920" y="35967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31H2 / 31SG-H2 (4.6–10.4 MW)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652260" y="3651656"/>
            <a:ext cx="1131570" cy="13716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97" name="Shape 95"/>
          <p:cNvSpPr/>
          <p:nvPr/>
        </p:nvSpPr>
        <p:spPr>
          <a:xfrm>
            <a:off x="7783830" y="3651656"/>
            <a:ext cx="377190" cy="13716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98" name="Shape 96"/>
          <p:cNvSpPr/>
          <p:nvPr/>
        </p:nvSpPr>
        <p:spPr>
          <a:xfrm>
            <a:off x="6620256" y="3688232"/>
            <a:ext cx="64008" cy="6400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99" name="Shape 97"/>
          <p:cNvSpPr/>
          <p:nvPr/>
        </p:nvSpPr>
        <p:spPr>
          <a:xfrm>
            <a:off x="8129016" y="3688232"/>
            <a:ext cx="64008" cy="6400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00" name="Shape 98"/>
          <p:cNvSpPr/>
          <p:nvPr/>
        </p:nvSpPr>
        <p:spPr>
          <a:xfrm>
            <a:off x="8103964" y="3642512"/>
            <a:ext cx="155448" cy="155448"/>
          </a:xfrm>
          <a:prstGeom prst="star5">
            <a:avLst/>
          </a:prstGeom>
          <a:solidFill>
            <a:srgbClr val="EDA100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8227408" y="34824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H₂ grid test, Jun 2026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320040" y="3993185"/>
            <a:ext cx="11612880" cy="2240280"/>
          </a:xfrm>
          <a:prstGeom prst="rect">
            <a:avLst/>
          </a:prstGeom>
          <a:solidFill>
            <a:srgbClr val="7030A0">
              <a:alpha val="7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832373" y="3993185"/>
            <a:ext cx="0" cy="224028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558053" y="4011473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2881705" y="3993185"/>
            <a:ext cx="0" cy="224028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2607385" y="4011473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931036" y="3993185"/>
            <a:ext cx="0" cy="224028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4656716" y="4011473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6980368" y="3993185"/>
            <a:ext cx="0" cy="224028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6706048" y="4011473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9029700" y="3993185"/>
            <a:ext cx="0" cy="224028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8755380" y="4011473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2031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11079032" y="3993185"/>
            <a:ext cx="0" cy="224028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10804712" y="4011473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</a:t>
            </a:r>
            <a:endParaRPr lang="en-US" sz="900" dirty="0"/>
          </a:p>
        </p:txBody>
      </p:sp>
      <p:sp>
        <p:nvSpPr>
          <p:cNvPr id="115" name="Text 113"/>
          <p:cNvSpPr txBox="1"/>
          <p:nvPr/>
        </p:nvSpPr>
        <p:spPr>
          <a:xfrm>
            <a:off x="429768" y="4194353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GENTARI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429768" y="4432097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→ commercialisation pathway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 flipH="1">
            <a:off x="832373" y="3811676"/>
            <a:ext cx="7349315" cy="1141628"/>
          </a:xfrm>
          <a:prstGeom prst="line">
            <a:avLst/>
          </a:prstGeom>
          <a:noFill/>
          <a:ln w="12700">
            <a:solidFill>
              <a:srgbClr val="898781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>
            <a:off x="832373" y="4953305"/>
            <a:ext cx="10246659" cy="0"/>
          </a:xfrm>
          <a:prstGeom prst="line">
            <a:avLst/>
          </a:prstGeom>
          <a:noFill/>
          <a:ln w="88900">
            <a:solidFill>
              <a:srgbClr val="7030A0"/>
            </a:solidFill>
            <a:prstDash val="solid"/>
            <a:tailEnd type="triangle"/>
          </a:ln>
        </p:spPr>
      </p:sp>
      <p:sp>
        <p:nvSpPr>
          <p:cNvPr id="119" name="Shape 117"/>
          <p:cNvSpPr/>
          <p:nvPr/>
        </p:nvSpPr>
        <p:spPr>
          <a:xfrm>
            <a:off x="832373" y="4889297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03151" y="4889297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03151" y="4889297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344706" y="4889297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344706" y="4889297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881705" y="4889297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881705" y="4889297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712811" y="4889297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712811" y="4889297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737476" y="4889297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3462" y="4839005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803462" y="483900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31" name="Text 129"/>
          <p:cNvSpPr txBox="1"/>
          <p:nvPr/>
        </p:nvSpPr>
        <p:spPr>
          <a:xfrm>
            <a:off x="369122" y="4678985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1244751" y="4839005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1244751" y="483900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34" name="Text 132"/>
          <p:cNvSpPr txBox="1"/>
          <p:nvPr/>
        </p:nvSpPr>
        <p:spPr>
          <a:xfrm>
            <a:off x="810411" y="4678985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1686041" y="4839005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1686041" y="483900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2127330" y="4839005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2127330" y="483900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39" name="Text 137"/>
          <p:cNvSpPr txBox="1"/>
          <p:nvPr/>
        </p:nvSpPr>
        <p:spPr>
          <a:xfrm>
            <a:off x="1692990" y="4678985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mo (9)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3621293" y="4839005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3621293" y="483900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42" name="Text 140"/>
          <p:cNvSpPr txBox="1"/>
          <p:nvPr/>
        </p:nvSpPr>
        <p:spPr>
          <a:xfrm>
            <a:off x="3186953" y="4678985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mo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4475181" y="4839005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4475181" y="483900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7036846" y="4839005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7036846" y="483900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47" name="Text 145"/>
          <p:cNvSpPr txBox="1"/>
          <p:nvPr/>
        </p:nvSpPr>
        <p:spPr>
          <a:xfrm>
            <a:off x="6602506" y="4678985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10110844" y="4839005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10110844" y="483900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50" name="Text 148"/>
          <p:cNvSpPr txBox="1"/>
          <p:nvPr/>
        </p:nvSpPr>
        <p:spPr>
          <a:xfrm>
            <a:off x="9676504" y="4678985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mo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10941872" y="4816145"/>
            <a:ext cx="274320" cy="274320"/>
          </a:xfrm>
          <a:prstGeom prst="star5">
            <a:avLst/>
          </a:prstGeom>
          <a:solidFill>
            <a:srgbClr val="FCFCFB">
              <a:alpha val="0"/>
            </a:srgbClr>
          </a:solidFill>
          <a:ln w="19050">
            <a:solidFill>
              <a:srgbClr val="7030A0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9158792" y="4422953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</a:t>
            </a:r>
            <a:endParaRPr lang="en-US" sz="900" dirty="0"/>
          </a:p>
        </p:txBody>
      </p:sp>
      <p:sp>
        <p:nvSpPr>
          <p:cNvPr id="153" name="Text 151"/>
          <p:cNvSpPr txBox="1"/>
          <p:nvPr/>
        </p:nvSpPr>
        <p:spPr>
          <a:xfrm>
            <a:off x="9158792" y="4624121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(target, assumption)</a:t>
            </a:r>
            <a:endParaRPr lang="en-US" sz="700" dirty="0"/>
          </a:p>
        </p:txBody>
      </p:sp>
      <p:sp>
        <p:nvSpPr>
          <p:cNvPr id="154" name="Text 152"/>
          <p:cNvSpPr txBox="1"/>
          <p:nvPr/>
        </p:nvSpPr>
        <p:spPr>
          <a:xfrm>
            <a:off x="429768" y="5264201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Issue RFP — 1 month (input)</a:t>
            </a:r>
            <a:endParaRPr lang="en-US" sz="8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Finalise bilateral agreement with OEM — 2 months (input)</a:t>
            </a:r>
            <a:endParaRPr lang="en-US" sz="8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Kickoff (input)</a:t>
            </a:r>
            <a:endParaRPr lang="en-US" sz="8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Pre-FEED study — 6–9 months, shown 9 (input)</a:t>
            </a:r>
            <a:endParaRPr lang="en-US" sz="850" dirty="0"/>
          </a:p>
        </p:txBody>
      </p:sp>
      <p:sp>
        <p:nvSpPr>
          <p:cNvPr id="155" name="Text 153"/>
          <p:cNvSpPr txBox="1"/>
          <p:nvPr/>
        </p:nvSpPr>
        <p:spPr>
          <a:xfrm>
            <a:off x="6172200" y="5264201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FEED — ~10 months (assumption)</a:t>
            </a:r>
            <a:endParaRPr lang="en-US" sz="8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FID — Final Investment Decision (assumption)</a:t>
            </a:r>
            <a:endParaRPr lang="en-US" sz="8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EPC — engineering, procurement &amp; construction — ~30 months (assumption)</a:t>
            </a:r>
            <a:endParaRPr lang="en-US" sz="8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Commissioning &amp; start-up — ~6 months (assumption)</a:t>
            </a:r>
            <a:endParaRPr lang="en-US" sz="850" dirty="0"/>
          </a:p>
        </p:txBody>
      </p:sp>
      <p:sp>
        <p:nvSpPr>
          <p:cNvPr id="156" name="Shape 154"/>
          <p:cNvSpPr/>
          <p:nvPr/>
        </p:nvSpPr>
        <p:spPr>
          <a:xfrm>
            <a:off x="320040" y="6233465"/>
            <a:ext cx="11612880" cy="0"/>
          </a:xfrm>
          <a:prstGeom prst="line">
            <a:avLst/>
          </a:prstGeom>
          <a:noFill/>
          <a:ln w="12700">
            <a:solidFill>
              <a:srgbClr val="C3C2B7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603773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158" name="Text 156"/>
          <p:cNvSpPr txBox="1"/>
          <p:nvPr/>
        </p:nvSpPr>
        <p:spPr>
          <a:xfrm>
            <a:off x="1116106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159" name="Text 157"/>
          <p:cNvSpPr txBox="1"/>
          <p:nvPr/>
        </p:nvSpPr>
        <p:spPr>
          <a:xfrm>
            <a:off x="1628439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00" dirty="0"/>
          </a:p>
        </p:txBody>
      </p:sp>
      <p:sp>
        <p:nvSpPr>
          <p:cNvPr id="160" name="Text 158"/>
          <p:cNvSpPr txBox="1"/>
          <p:nvPr/>
        </p:nvSpPr>
        <p:spPr>
          <a:xfrm>
            <a:off x="2140772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00" dirty="0"/>
          </a:p>
        </p:txBody>
      </p:sp>
      <p:sp>
        <p:nvSpPr>
          <p:cNvPr id="161" name="Text 159"/>
          <p:cNvSpPr txBox="1"/>
          <p:nvPr/>
        </p:nvSpPr>
        <p:spPr>
          <a:xfrm>
            <a:off x="2653105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162" name="Text 160"/>
          <p:cNvSpPr txBox="1"/>
          <p:nvPr/>
        </p:nvSpPr>
        <p:spPr>
          <a:xfrm>
            <a:off x="3165438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163" name="Text 161"/>
          <p:cNvSpPr txBox="1"/>
          <p:nvPr/>
        </p:nvSpPr>
        <p:spPr>
          <a:xfrm>
            <a:off x="3677771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00" dirty="0"/>
          </a:p>
        </p:txBody>
      </p:sp>
      <p:sp>
        <p:nvSpPr>
          <p:cNvPr id="164" name="Text 162"/>
          <p:cNvSpPr txBox="1"/>
          <p:nvPr/>
        </p:nvSpPr>
        <p:spPr>
          <a:xfrm>
            <a:off x="4190104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00" dirty="0"/>
          </a:p>
        </p:txBody>
      </p:sp>
      <p:sp>
        <p:nvSpPr>
          <p:cNvPr id="165" name="Text 163"/>
          <p:cNvSpPr txBox="1"/>
          <p:nvPr/>
        </p:nvSpPr>
        <p:spPr>
          <a:xfrm>
            <a:off x="4702436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166" name="Text 164"/>
          <p:cNvSpPr txBox="1"/>
          <p:nvPr/>
        </p:nvSpPr>
        <p:spPr>
          <a:xfrm>
            <a:off x="5214769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167" name="Text 165"/>
          <p:cNvSpPr txBox="1"/>
          <p:nvPr/>
        </p:nvSpPr>
        <p:spPr>
          <a:xfrm>
            <a:off x="5727102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00" dirty="0"/>
          </a:p>
        </p:txBody>
      </p:sp>
      <p:sp>
        <p:nvSpPr>
          <p:cNvPr id="168" name="Text 166"/>
          <p:cNvSpPr txBox="1"/>
          <p:nvPr/>
        </p:nvSpPr>
        <p:spPr>
          <a:xfrm>
            <a:off x="6239435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00" dirty="0"/>
          </a:p>
        </p:txBody>
      </p:sp>
      <p:sp>
        <p:nvSpPr>
          <p:cNvPr id="169" name="Text 167"/>
          <p:cNvSpPr txBox="1"/>
          <p:nvPr/>
        </p:nvSpPr>
        <p:spPr>
          <a:xfrm>
            <a:off x="6751768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170" name="Text 168"/>
          <p:cNvSpPr txBox="1"/>
          <p:nvPr/>
        </p:nvSpPr>
        <p:spPr>
          <a:xfrm>
            <a:off x="7264101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171" name="Text 169"/>
          <p:cNvSpPr txBox="1"/>
          <p:nvPr/>
        </p:nvSpPr>
        <p:spPr>
          <a:xfrm>
            <a:off x="7776434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00" dirty="0"/>
          </a:p>
        </p:txBody>
      </p:sp>
      <p:sp>
        <p:nvSpPr>
          <p:cNvPr id="172" name="Text 170"/>
          <p:cNvSpPr txBox="1"/>
          <p:nvPr/>
        </p:nvSpPr>
        <p:spPr>
          <a:xfrm>
            <a:off x="8288767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00" dirty="0"/>
          </a:p>
        </p:txBody>
      </p:sp>
      <p:sp>
        <p:nvSpPr>
          <p:cNvPr id="173" name="Text 171"/>
          <p:cNvSpPr txBox="1"/>
          <p:nvPr/>
        </p:nvSpPr>
        <p:spPr>
          <a:xfrm>
            <a:off x="8801100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174" name="Text 172"/>
          <p:cNvSpPr txBox="1"/>
          <p:nvPr/>
        </p:nvSpPr>
        <p:spPr>
          <a:xfrm>
            <a:off x="9313433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175" name="Text 173"/>
          <p:cNvSpPr txBox="1"/>
          <p:nvPr/>
        </p:nvSpPr>
        <p:spPr>
          <a:xfrm>
            <a:off x="9825766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00" dirty="0"/>
          </a:p>
        </p:txBody>
      </p:sp>
      <p:sp>
        <p:nvSpPr>
          <p:cNvPr id="176" name="Text 174"/>
          <p:cNvSpPr txBox="1"/>
          <p:nvPr/>
        </p:nvSpPr>
        <p:spPr>
          <a:xfrm>
            <a:off x="10338099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00" dirty="0"/>
          </a:p>
        </p:txBody>
      </p:sp>
      <p:sp>
        <p:nvSpPr>
          <p:cNvPr id="177" name="Text 175"/>
          <p:cNvSpPr txBox="1"/>
          <p:nvPr/>
        </p:nvSpPr>
        <p:spPr>
          <a:xfrm>
            <a:off x="10850432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178" name="Text 176"/>
          <p:cNvSpPr txBox="1"/>
          <p:nvPr/>
        </p:nvSpPr>
        <p:spPr>
          <a:xfrm>
            <a:off x="11362765" y="6251753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179" name="Text 177"/>
          <p:cNvSpPr txBox="1"/>
          <p:nvPr/>
        </p:nvSpPr>
        <p:spPr>
          <a:xfrm>
            <a:off x="320040" y="6471209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= indicative readiness/commercialisation date. Hatched OEM bars (dashed border, lighter fill) = planned, uncertain, or unverified.</a:t>
            </a:r>
            <a:endParaRPr lang="en-US" sz="7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Gentari pathway (①–⑧): RFP timed to follow Wärtsilä commercialisation (assumption). ①–④ are user-specified inputs; ⑤–⑧ are Claude-filled indicative assumptions (not sourced) — confirm in memory.md before use.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2026-09-18T03:47:20Z</dcterms:created>
  <dcterms:modified xsi:type="dcterms:W3CDTF">2026-09-18T03:47:20Z</dcterms:modified>
</cp:coreProperties>
</file>