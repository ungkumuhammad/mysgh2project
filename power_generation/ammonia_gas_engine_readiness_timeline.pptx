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gas engine readiness timeline — IHI, HD Hyundai, Wärtsilä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475488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MYSGH2 power-generation OEM survey — ammonia-fired reciprocating gas engines only (excludes hydrogen engines &amp; gas turbines), plus Gentari's study-to-commercialisation pathway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514600" y="804672"/>
            <a:ext cx="146304" cy="146304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07208" y="768096"/>
            <a:ext cx="2025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readiness (confirmed)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69180" y="804672"/>
            <a:ext cx="146304" cy="146304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1788" y="768096"/>
            <a:ext cx="2025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readiness (target, unverified)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0" y="832104"/>
            <a:ext cx="237744" cy="118872"/>
          </a:xfrm>
          <a:prstGeom prst="rect">
            <a:avLst/>
          </a:prstGeom>
          <a:solidFill>
            <a:srgbClr val="52514E">
              <a:alpha val="35000"/>
            </a:srgbClr>
          </a:solidFill>
          <a:ln w="12700">
            <a:solidFill>
              <a:srgbClr val="52514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516368" y="768096"/>
            <a:ext cx="2025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uncertain period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78340" y="832104"/>
            <a:ext cx="237744" cy="118872"/>
          </a:xfrm>
          <a:prstGeom prst="rect">
            <a:avLst/>
          </a:prstGeom>
          <a:solidFill>
            <a:srgbClr val="5251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0948" y="768096"/>
            <a:ext cx="2025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/ confirmed period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61872"/>
            <a:ext cx="11658600" cy="652882"/>
          </a:xfrm>
          <a:prstGeom prst="rect">
            <a:avLst/>
          </a:prstGeom>
          <a:solidFill>
            <a:srgbClr val="2A78D6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26187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83664"/>
            <a:ext cx="11658600" cy="652882"/>
          </a:xfrm>
          <a:prstGeom prst="rect">
            <a:avLst/>
          </a:prstGeom>
          <a:solidFill>
            <a:srgbClr val="EB6834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883664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05456"/>
            <a:ext cx="11658600" cy="652882"/>
          </a:xfrm>
          <a:prstGeom prst="rect">
            <a:avLst/>
          </a:prstGeom>
          <a:solidFill>
            <a:srgbClr val="1BAF7A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505456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58338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9460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4934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90409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5883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1357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6831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72306" y="1261872"/>
            <a:ext cx="0" cy="1896466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79420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24894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70369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15843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61317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06791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052266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126187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5532" y="1261872"/>
            <a:ext cx="0" cy="1896466"/>
          </a:xfrm>
          <a:prstGeom prst="line">
            <a:avLst/>
          </a:prstGeom>
          <a:noFill/>
          <a:ln w="13970">
            <a:solidFill>
              <a:srgbClr val="898781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8341252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18 Sep 2026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" y="1277417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1588313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18V28ADF ammonia 4-stroke (6 MW)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90409" y="1661465"/>
            <a:ext cx="3027317" cy="164592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953833" y="1707185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8981150" y="1707185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8926286" y="1652321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2590" y="1469441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from JFY2027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320040" y="1899209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2210105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HiMSEN ammonia genset (stationary)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35883" y="2283257"/>
            <a:ext cx="3251563" cy="164592"/>
          </a:xfrm>
          <a:prstGeom prst="rect">
            <a:avLst/>
          </a:prstGeom>
          <a:solidFill>
            <a:srgbClr val="EB6834">
              <a:alpha val="35000"/>
            </a:srgbClr>
          </a:solidFill>
          <a:ln w="12700">
            <a:solidFill>
              <a:srgbClr val="EB6834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299307" y="2328977"/>
            <a:ext cx="73152" cy="7315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50870" y="2328977"/>
            <a:ext cx="73152" cy="7315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60598" y="2255825"/>
            <a:ext cx="1226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stated, no date confirmed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320040" y="2521001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Wärtsilä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2831897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Ammonia (1.9–3.1 MW)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99460" y="2905049"/>
            <a:ext cx="3924300" cy="164592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2" name="Shape 50"/>
          <p:cNvSpPr/>
          <p:nvPr/>
        </p:nvSpPr>
        <p:spPr>
          <a:xfrm>
            <a:off x="7335883" y="2905049"/>
            <a:ext cx="3924300" cy="164592"/>
          </a:xfrm>
          <a:prstGeom prst="rect">
            <a:avLst/>
          </a:prstGeom>
          <a:solidFill>
            <a:srgbClr val="1BAF7A">
              <a:alpha val="35000"/>
            </a:srgbClr>
          </a:solidFill>
          <a:ln w="12700">
            <a:solidFill>
              <a:srgbClr val="1BAF7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262884" y="2950769"/>
            <a:ext cx="73152" cy="7315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54" name="Shape 52"/>
          <p:cNvSpPr/>
          <p:nvPr/>
        </p:nvSpPr>
        <p:spPr>
          <a:xfrm>
            <a:off x="11223607" y="2950769"/>
            <a:ext cx="73152" cy="7315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55" name="Shape 53"/>
          <p:cNvSpPr/>
          <p:nvPr/>
        </p:nvSpPr>
        <p:spPr>
          <a:xfrm>
            <a:off x="7244443" y="2895905"/>
            <a:ext cx="182880" cy="182880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43659" y="3060497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2026?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168743" y="2895905"/>
            <a:ext cx="182880" cy="182880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315047" y="2713025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2028?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" y="3432658"/>
            <a:ext cx="11612880" cy="2514600"/>
          </a:xfrm>
          <a:prstGeom prst="rect">
            <a:avLst/>
          </a:prstGeom>
          <a:solidFill>
            <a:srgbClr val="7030A0">
              <a:alpha val="7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32373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58053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881705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607385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931036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656716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80368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706048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029700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755380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079032" y="3432658"/>
            <a:ext cx="0" cy="25146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804712" y="345094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429768" y="363382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429768" y="387157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→ commercialisation pathway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 flipH="1">
            <a:off x="832373" y="3353105"/>
            <a:ext cx="6503510" cy="1039673"/>
          </a:xfrm>
          <a:prstGeom prst="line">
            <a:avLst/>
          </a:prstGeom>
          <a:noFill/>
          <a:ln w="12700">
            <a:solidFill>
              <a:srgbClr val="898781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832373" y="4392778"/>
            <a:ext cx="10246659" cy="0"/>
          </a:xfrm>
          <a:prstGeom prst="line">
            <a:avLst/>
          </a:prstGeom>
          <a:noFill/>
          <a:ln w="88900">
            <a:solidFill>
              <a:srgbClr val="7030A0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32373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3151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03151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44706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44706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1705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1705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12811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12811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37476" y="432877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3462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03462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369122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244751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244751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810411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686041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686041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127330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127330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94"/>
          <p:cNvSpPr txBox="1"/>
          <p:nvPr/>
        </p:nvSpPr>
        <p:spPr>
          <a:xfrm>
            <a:off x="1692990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 (9)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621293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621293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3186953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475181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475181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7036846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036846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4" name="Text 102"/>
          <p:cNvSpPr txBox="1"/>
          <p:nvPr/>
        </p:nvSpPr>
        <p:spPr>
          <a:xfrm>
            <a:off x="6602506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mo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0110844" y="427847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0110844" y="427847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9676504" y="411845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0941872" y="4255618"/>
            <a:ext cx="274320" cy="274320"/>
          </a:xfrm>
          <a:prstGeom prst="star5">
            <a:avLst/>
          </a:prstGeom>
          <a:solidFill>
            <a:srgbClr val="FCFCFB">
              <a:alpha val="0"/>
            </a:srgbClr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158792" y="386242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9158792" y="406359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(target, assumption)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429768" y="472196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Issue RFP — 1 month (input)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Finalise bilateral agreement with OEM — 2 months (input)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Kickoff (input)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Pre-FEED study — 6–9 months, shown 9 (input)</a:t>
            </a:r>
            <a:endParaRPr lang="en-US" sz="850" dirty="0"/>
          </a:p>
        </p:txBody>
      </p:sp>
      <p:sp>
        <p:nvSpPr>
          <p:cNvPr id="112" name="Text 110"/>
          <p:cNvSpPr txBox="1"/>
          <p:nvPr/>
        </p:nvSpPr>
        <p:spPr>
          <a:xfrm>
            <a:off x="6172200" y="472196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FEED — ~10 months (assumption)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FID — Final Investment Decision (assumption)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EPC — engineering, procurement &amp; construction — ~30 months (assumption)</a:t>
            </a:r>
            <a:endParaRPr lang="en-US" sz="8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Commissioning &amp; start-up — ~6 months (assumption)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20040" y="5947258"/>
            <a:ext cx="11612880" cy="0"/>
          </a:xfrm>
          <a:prstGeom prst="line">
            <a:avLst/>
          </a:prstGeom>
          <a:noFill/>
          <a:ln w="12700">
            <a:solidFill>
              <a:srgbClr val="C3C2B7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03773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15" name="Text 113"/>
          <p:cNvSpPr txBox="1"/>
          <p:nvPr/>
        </p:nvSpPr>
        <p:spPr>
          <a:xfrm>
            <a:off x="1116106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1628439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17" name="Text 115"/>
          <p:cNvSpPr txBox="1"/>
          <p:nvPr/>
        </p:nvSpPr>
        <p:spPr>
          <a:xfrm>
            <a:off x="2140772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2653105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3165438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20" name="Text 118"/>
          <p:cNvSpPr txBox="1"/>
          <p:nvPr/>
        </p:nvSpPr>
        <p:spPr>
          <a:xfrm>
            <a:off x="3677771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21" name="Text 119"/>
          <p:cNvSpPr txBox="1"/>
          <p:nvPr/>
        </p:nvSpPr>
        <p:spPr>
          <a:xfrm>
            <a:off x="4190104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22" name="Text 120"/>
          <p:cNvSpPr txBox="1"/>
          <p:nvPr/>
        </p:nvSpPr>
        <p:spPr>
          <a:xfrm>
            <a:off x="4702436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23" name="Text 121"/>
          <p:cNvSpPr txBox="1"/>
          <p:nvPr/>
        </p:nvSpPr>
        <p:spPr>
          <a:xfrm>
            <a:off x="5214769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5727102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25" name="Text 123"/>
          <p:cNvSpPr txBox="1"/>
          <p:nvPr/>
        </p:nvSpPr>
        <p:spPr>
          <a:xfrm>
            <a:off x="6239435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26" name="Text 124"/>
          <p:cNvSpPr txBox="1"/>
          <p:nvPr/>
        </p:nvSpPr>
        <p:spPr>
          <a:xfrm>
            <a:off x="6751768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7264101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28" name="Text 126"/>
          <p:cNvSpPr txBox="1"/>
          <p:nvPr/>
        </p:nvSpPr>
        <p:spPr>
          <a:xfrm>
            <a:off x="7776434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29" name="Text 127"/>
          <p:cNvSpPr txBox="1"/>
          <p:nvPr/>
        </p:nvSpPr>
        <p:spPr>
          <a:xfrm>
            <a:off x="8288767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30" name="Text 128"/>
          <p:cNvSpPr txBox="1"/>
          <p:nvPr/>
        </p:nvSpPr>
        <p:spPr>
          <a:xfrm>
            <a:off x="8801100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31" name="Text 129"/>
          <p:cNvSpPr txBox="1"/>
          <p:nvPr/>
        </p:nvSpPr>
        <p:spPr>
          <a:xfrm>
            <a:off x="9313433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32" name="Text 130"/>
          <p:cNvSpPr txBox="1"/>
          <p:nvPr/>
        </p:nvSpPr>
        <p:spPr>
          <a:xfrm>
            <a:off x="9825766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10338099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34" name="Text 132"/>
          <p:cNvSpPr txBox="1"/>
          <p:nvPr/>
        </p:nvSpPr>
        <p:spPr>
          <a:xfrm>
            <a:off x="10850432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35" name="Text 133"/>
          <p:cNvSpPr txBox="1"/>
          <p:nvPr/>
        </p:nvSpPr>
        <p:spPr>
          <a:xfrm>
            <a:off x="11362765" y="596554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36" name="Text 134"/>
          <p:cNvSpPr txBox="1"/>
          <p:nvPr/>
        </p:nvSpPr>
        <p:spPr>
          <a:xfrm>
            <a:off x="320040" y="6166714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ammonia-fired reciprocating gas engines only — excludes hydrogen-fired engines (Wärtsilä 31H2, HD Hyundai HiMSEN pure-H₂, Infracore 11L H₂) and ammonia gas turbines (IHI IM270, IHI+GE Vernova F-class).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= indicative readiness/commercialisation date. Hatched bars (dashed border, lighter fill) = planned, uncertain, or unverified.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 pathway (①–⑧): RFP timed to follow Wärtsilä ammonia-engine commercialisation (assumption). ①–④ are user-specified inputs; ⑤–⑧ are Claude-filled indicative assumptions (not sourced) — confirm in memory.md before use.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2026-09-18T03:56:43Z</dcterms:created>
  <dcterms:modified xsi:type="dcterms:W3CDTF">2026-09-18T03:56:43Z</dcterms:modified>
</cp:coreProperties>
</file>