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Ammonia gas engine readiness timeline — IHI, HD Hyundai, Wärtsilä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475488"/>
            <a:ext cx="1152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Merged: grey = AWS/research_OEM public survey · colour = AWS/comm_OEM commercial decks. Ammonia-fired reciprocating engines only (excludes gas turbines &amp; hydrogen engines).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246120" y="804672"/>
            <a:ext cx="146304" cy="146304"/>
          </a:xfrm>
          <a:prstGeom prst="star5">
            <a:avLst/>
          </a:prstGeom>
          <a:solidFill>
            <a:srgbClr val="EDA100"/>
          </a:solidFill>
          <a:ln w="9525">
            <a:solidFill>
              <a:srgbClr val="0B0B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538728" y="768096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(comm_OEM)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983480" y="804672"/>
            <a:ext cx="146304" cy="146304"/>
          </a:xfrm>
          <a:prstGeom prst="star5">
            <a:avLst/>
          </a:prstGeom>
          <a:solidFill>
            <a:srgbClr val="87857D"/>
          </a:solidFill>
          <a:ln w="9525">
            <a:solidFill>
              <a:srgbClr val="0B0B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276088" y="768096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(research_OEM)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720840" y="804672"/>
            <a:ext cx="146304" cy="146304"/>
          </a:xfrm>
          <a:prstGeom prst="star5">
            <a:avLst/>
          </a:prstGeom>
          <a:solidFill>
            <a:srgbClr val="FCFCFB">
              <a:alpha val="0"/>
            </a:srgbClr>
          </a:solidFill>
          <a:ln w="15875">
            <a:solidFill>
              <a:srgbClr val="5251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13448" y="768096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/ target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458200" y="832104"/>
            <a:ext cx="237744" cy="118872"/>
          </a:xfrm>
          <a:prstGeom prst="rect">
            <a:avLst/>
          </a:prstGeom>
          <a:solidFill>
            <a:srgbClr val="52514E">
              <a:alpha val="35000"/>
            </a:srgbClr>
          </a:solidFill>
          <a:ln w="12700">
            <a:solidFill>
              <a:srgbClr val="52514E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8750808" y="768096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/ ramp period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0195560" y="832104"/>
            <a:ext cx="237744" cy="118872"/>
          </a:xfrm>
          <a:prstGeom prst="rect">
            <a:avLst/>
          </a:prstGeom>
          <a:solidFill>
            <a:srgbClr val="52514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488168" y="768096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/ demonstrated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261872"/>
            <a:ext cx="11658600" cy="850392"/>
          </a:xfrm>
          <a:prstGeom prst="rect">
            <a:avLst/>
          </a:prstGeom>
          <a:solidFill>
            <a:srgbClr val="2A78D6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1261872"/>
            <a:ext cx="11658600" cy="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084832"/>
            <a:ext cx="11658600" cy="1124712"/>
          </a:xfrm>
          <a:prstGeom prst="rect">
            <a:avLst/>
          </a:prstGeom>
          <a:solidFill>
            <a:srgbClr val="EB6834">
              <a:alpha val="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084832"/>
            <a:ext cx="11658600" cy="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182112"/>
            <a:ext cx="11658600" cy="576072"/>
          </a:xfrm>
          <a:prstGeom prst="rect">
            <a:avLst/>
          </a:prstGeom>
          <a:solidFill>
            <a:srgbClr val="1BAF7A">
              <a:alpha val="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3182112"/>
            <a:ext cx="11658600" cy="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758184"/>
            <a:ext cx="11658600" cy="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70020" y="1261872"/>
            <a:ext cx="0" cy="2496312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0991" y="1261872"/>
            <a:ext cx="0" cy="2496312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51963" y="1261872"/>
            <a:ext cx="0" cy="2496312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92934" y="1261872"/>
            <a:ext cx="0" cy="2496312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33906" y="1261872"/>
            <a:ext cx="0" cy="2496312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74877" y="1261872"/>
            <a:ext cx="0" cy="2496312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15849" y="1261872"/>
            <a:ext cx="0" cy="2496312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649980" y="10241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890951" y="10241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131923" y="10241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372894" y="10241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613866" y="10241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854837" y="10241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095809" y="10241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1261872"/>
            <a:ext cx="11658600" cy="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81447" y="1261872"/>
            <a:ext cx="0" cy="2496312"/>
          </a:xfrm>
          <a:prstGeom prst="line">
            <a:avLst/>
          </a:prstGeom>
          <a:noFill/>
          <a:ln w="13970">
            <a:solidFill>
              <a:srgbClr val="898781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8627167" y="1280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19 Sep 2026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320040" y="12755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IHI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02920" y="15499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18V28ADF dual-fuel (6 MW, land)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361019" y="1613916"/>
            <a:ext cx="883130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1" name="Shape 39"/>
          <p:cNvSpPr/>
          <p:nvPr/>
        </p:nvSpPr>
        <p:spPr>
          <a:xfrm>
            <a:off x="9244149" y="1613916"/>
            <a:ext cx="827314" cy="146304"/>
          </a:xfrm>
          <a:prstGeom prst="rect">
            <a:avLst/>
          </a:prstGeom>
          <a:solidFill>
            <a:srgbClr val="2A78D6">
              <a:alpha val="35000"/>
            </a:srgbClr>
          </a:solidFill>
          <a:ln w="12700">
            <a:solidFill>
              <a:srgbClr val="2A78D6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8324443" y="1650492"/>
            <a:ext cx="73152" cy="73152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43" name="Shape 41"/>
          <p:cNvSpPr/>
          <p:nvPr/>
        </p:nvSpPr>
        <p:spPr>
          <a:xfrm>
            <a:off x="10034887" y="1650492"/>
            <a:ext cx="73152" cy="73152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44" name="Shape 42"/>
          <p:cNvSpPr/>
          <p:nvPr/>
        </p:nvSpPr>
        <p:spPr>
          <a:xfrm>
            <a:off x="9152709" y="1595628"/>
            <a:ext cx="182880" cy="182880"/>
          </a:xfrm>
          <a:prstGeom prst="star5">
            <a:avLst/>
          </a:prstGeom>
          <a:solidFill>
            <a:srgbClr val="EDA100"/>
          </a:solidFill>
          <a:ln w="9525">
            <a:solidFill>
              <a:srgbClr val="0B0B0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299013" y="13213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sales from JFY2027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502920" y="18242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28AGS-AM 100% ammonia engine (land)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505232" y="1888236"/>
            <a:ext cx="1669645" cy="146304"/>
          </a:xfrm>
          <a:prstGeom prst="rect">
            <a:avLst/>
          </a:prstGeom>
          <a:solidFill>
            <a:srgbClr val="2A78D6">
              <a:alpha val="35000"/>
            </a:srgbClr>
          </a:solidFill>
          <a:ln w="12700">
            <a:solidFill>
              <a:srgbClr val="2A78D6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8468656" y="1924812"/>
            <a:ext cx="73152" cy="73152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49" name="Shape 47"/>
          <p:cNvSpPr/>
          <p:nvPr/>
        </p:nvSpPr>
        <p:spPr>
          <a:xfrm>
            <a:off x="10138301" y="1924812"/>
            <a:ext cx="73152" cy="73152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50" name="Shape 48"/>
          <p:cNvSpPr/>
          <p:nvPr/>
        </p:nvSpPr>
        <p:spPr>
          <a:xfrm>
            <a:off x="10083437" y="1869948"/>
            <a:ext cx="182880" cy="182880"/>
          </a:xfrm>
          <a:prstGeom prst="star5">
            <a:avLst/>
          </a:prstGeom>
          <a:solidFill>
            <a:srgbClr val="EDA100"/>
          </a:solidFill>
          <a:ln w="9525">
            <a:solidFill>
              <a:srgbClr val="0B0B0B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29741" y="15956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Commercialisation from 2028</a:t>
            </a:r>
            <a:endParaRPr lang="en-US" sz="750" dirty="0"/>
          </a:p>
        </p:txBody>
      </p:sp>
      <p:sp>
        <p:nvSpPr>
          <p:cNvPr id="52" name="Text 50"/>
          <p:cNvSpPr txBox="1"/>
          <p:nvPr/>
        </p:nvSpPr>
        <p:spPr>
          <a:xfrm>
            <a:off x="10248029" y="2089404"/>
            <a:ext cx="16391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IHI deck also calls this “AGX”, dated 2028–2029 — unresolved internal inconsistency</a:t>
            </a:r>
            <a:endParaRPr lang="en-US" sz="700" dirty="0"/>
          </a:p>
        </p:txBody>
      </p:sp>
      <p:sp>
        <p:nvSpPr>
          <p:cNvPr id="53" name="Text 51"/>
          <p:cNvSpPr txBox="1"/>
          <p:nvPr/>
        </p:nvSpPr>
        <p:spPr>
          <a:xfrm>
            <a:off x="320040" y="20985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Hyundai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502920" y="23728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A99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HiMSEN ammonia genset (stationary)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692934" y="2436876"/>
            <a:ext cx="2999014" cy="146304"/>
          </a:xfrm>
          <a:prstGeom prst="rect">
            <a:avLst/>
          </a:prstGeom>
          <a:solidFill>
            <a:srgbClr val="9A9992">
              <a:alpha val="35000"/>
            </a:srgbClr>
          </a:solidFill>
          <a:ln w="12700">
            <a:solidFill>
              <a:srgbClr val="9A9992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7656358" y="2473452"/>
            <a:ext cx="73152" cy="73152"/>
          </a:xfrm>
          <a:prstGeom prst="ellipse">
            <a:avLst/>
          </a:prstGeom>
          <a:solidFill>
            <a:srgbClr val="9A9992"/>
          </a:solidFill>
          <a:ln/>
        </p:spPr>
      </p:sp>
      <p:sp>
        <p:nvSpPr>
          <p:cNvPr id="57" name="Shape 55"/>
          <p:cNvSpPr/>
          <p:nvPr/>
        </p:nvSpPr>
        <p:spPr>
          <a:xfrm>
            <a:off x="10655373" y="2473452"/>
            <a:ext cx="73152" cy="73152"/>
          </a:xfrm>
          <a:prstGeom prst="ellipse">
            <a:avLst/>
          </a:prstGeom>
          <a:solidFill>
            <a:srgbClr val="9A9992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10765101" y="2400300"/>
            <a:ext cx="11220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stated, no date confirmed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502920" y="26471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H22CDF-LA dual-fuel (1.4–2.2 MW, marine)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050280" y="2692908"/>
            <a:ext cx="182880" cy="182880"/>
          </a:xfrm>
          <a:prstGeom prst="star5">
            <a:avLst/>
          </a:prstGeom>
          <a:solidFill>
            <a:srgbClr val="EDA100"/>
          </a:solidFill>
          <a:ln w="9525">
            <a:solidFill>
              <a:srgbClr val="0B0B0B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196584" y="24185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Approval Test</a:t>
            </a:r>
            <a:endParaRPr lang="en-US" sz="7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completed, Oct 2024</a:t>
            </a:r>
            <a:endParaRPr lang="en-US" sz="750" dirty="0"/>
          </a:p>
        </p:txBody>
      </p:sp>
      <p:sp>
        <p:nvSpPr>
          <p:cNvPr id="62" name="Text 60"/>
          <p:cNvSpPr txBox="1"/>
          <p:nvPr/>
        </p:nvSpPr>
        <p:spPr>
          <a:xfrm>
            <a:off x="502920" y="29215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H32CDF-LA dual-fuel (3.6–5.4 MW, marine)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291251" y="2967228"/>
            <a:ext cx="182880" cy="182880"/>
          </a:xfrm>
          <a:prstGeom prst="star5">
            <a:avLst/>
          </a:prstGeom>
          <a:solidFill>
            <a:srgbClr val="EDA100"/>
          </a:solidFill>
          <a:ln w="9525">
            <a:solidFill>
              <a:srgbClr val="0B0B0B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437555" y="26929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Approval Test</a:t>
            </a:r>
            <a:endParaRPr lang="en-US" sz="7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completed, Oct 2025</a:t>
            </a:r>
            <a:endParaRPr lang="en-US" sz="750" dirty="0"/>
          </a:p>
        </p:txBody>
      </p:sp>
      <p:sp>
        <p:nvSpPr>
          <p:cNvPr id="65" name="Text 63"/>
          <p:cNvSpPr txBox="1"/>
          <p:nvPr/>
        </p:nvSpPr>
        <p:spPr>
          <a:xfrm>
            <a:off x="320040" y="31958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Wärtsilä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502920" y="34701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Ammonia (1.9–3.1 MW, marine)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004163" y="3534156"/>
            <a:ext cx="1447800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68" name="Shape 66"/>
          <p:cNvSpPr/>
          <p:nvPr/>
        </p:nvSpPr>
        <p:spPr>
          <a:xfrm>
            <a:off x="6451963" y="3534156"/>
            <a:ext cx="3309257" cy="146304"/>
          </a:xfrm>
          <a:prstGeom prst="rect">
            <a:avLst/>
          </a:prstGeom>
          <a:solidFill>
            <a:srgbClr val="1BAF7A">
              <a:alpha val="35000"/>
            </a:srgbClr>
          </a:solidFill>
          <a:ln w="12700">
            <a:solidFill>
              <a:srgbClr val="1BAF7A"/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>
            <a:off x="4967587" y="3570732"/>
            <a:ext cx="73152" cy="73152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70" name="Shape 68"/>
          <p:cNvSpPr/>
          <p:nvPr/>
        </p:nvSpPr>
        <p:spPr>
          <a:xfrm>
            <a:off x="9724644" y="3570732"/>
            <a:ext cx="73152" cy="73152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71" name="Shape 69"/>
          <p:cNvSpPr/>
          <p:nvPr/>
        </p:nvSpPr>
        <p:spPr>
          <a:xfrm>
            <a:off x="8635637" y="3424428"/>
            <a:ext cx="182880" cy="182880"/>
          </a:xfrm>
          <a:prstGeom prst="star5">
            <a:avLst/>
          </a:prstGeom>
          <a:solidFill>
            <a:srgbClr val="EDA100"/>
          </a:solidFill>
          <a:ln w="9525">
            <a:solidFill>
              <a:srgbClr val="0B0B0B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477653" y="35981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Skarv genset Q4 2026 &amp;</a:t>
            </a:r>
            <a:endParaRPr lang="en-US" sz="75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Eidesvik ops start, end 2026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9669780" y="3607308"/>
            <a:ext cx="182880" cy="182880"/>
          </a:xfrm>
          <a:prstGeom prst="star5">
            <a:avLst/>
          </a:prstGeom>
          <a:solidFill>
            <a:srgbClr val="EDA100"/>
          </a:solidFill>
          <a:ln w="9525">
            <a:solidFill>
              <a:srgbClr val="0B0B0B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9816084" y="33329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 Amon</a:t>
            </a:r>
            <a:endParaRPr lang="en-US" sz="7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ship, Sep 2027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320040" y="3941064"/>
            <a:ext cx="11612880" cy="2286000"/>
          </a:xfrm>
          <a:prstGeom prst="rect">
            <a:avLst/>
          </a:prstGeom>
          <a:solidFill>
            <a:srgbClr val="7030A0">
              <a:alpha val="7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832373" y="3941064"/>
            <a:ext cx="0" cy="228600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558053" y="39593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881705" y="3941064"/>
            <a:ext cx="0" cy="228600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2607385" y="39593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931036" y="3941064"/>
            <a:ext cx="0" cy="228600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4656716" y="39593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980368" y="3941064"/>
            <a:ext cx="0" cy="228600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6706048" y="39593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029700" y="3941064"/>
            <a:ext cx="0" cy="228600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8755380" y="39593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2031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11079032" y="3941064"/>
            <a:ext cx="0" cy="2286000"/>
          </a:xfrm>
          <a:prstGeom prst="line">
            <a:avLst/>
          </a:prstGeom>
          <a:noFill/>
          <a:ln w="9525">
            <a:solidFill>
              <a:srgbClr val="C3C2B7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10804712" y="39593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</a:t>
            </a:r>
            <a:endParaRPr lang="en-US" sz="900" dirty="0"/>
          </a:p>
        </p:txBody>
      </p:sp>
      <p:sp>
        <p:nvSpPr>
          <p:cNvPr id="88" name="Text 86"/>
          <p:cNvSpPr txBox="1"/>
          <p:nvPr/>
        </p:nvSpPr>
        <p:spPr>
          <a:xfrm>
            <a:off x="429768" y="4087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GENTARI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429768" y="428853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→ commercialisation pathway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 flipH="1">
            <a:off x="832373" y="3973068"/>
            <a:ext cx="7894704" cy="754380"/>
          </a:xfrm>
          <a:prstGeom prst="line">
            <a:avLst/>
          </a:prstGeom>
          <a:noFill/>
          <a:ln w="12700">
            <a:solidFill>
              <a:srgbClr val="898781"/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>
            <a:off x="832373" y="4727448"/>
            <a:ext cx="10246659" cy="0"/>
          </a:xfrm>
          <a:prstGeom prst="line">
            <a:avLst/>
          </a:prstGeom>
          <a:noFill/>
          <a:ln w="88900">
            <a:solidFill>
              <a:srgbClr val="7030A0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832373" y="4663440"/>
            <a:ext cx="0" cy="128016"/>
          </a:xfrm>
          <a:prstGeom prst="line">
            <a:avLst/>
          </a:prstGeom>
          <a:noFill/>
          <a:ln w="27940">
            <a:solidFill>
              <a:srgbClr val="FCFCF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03151" y="4663440"/>
            <a:ext cx="0" cy="128016"/>
          </a:xfrm>
          <a:prstGeom prst="line">
            <a:avLst/>
          </a:prstGeom>
          <a:noFill/>
          <a:ln w="27940">
            <a:solidFill>
              <a:srgbClr val="FCFCF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03151" y="4663440"/>
            <a:ext cx="0" cy="128016"/>
          </a:xfrm>
          <a:prstGeom prst="line">
            <a:avLst/>
          </a:prstGeom>
          <a:noFill/>
          <a:ln w="27940">
            <a:solidFill>
              <a:srgbClr val="FCFCF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344706" y="4663440"/>
            <a:ext cx="0" cy="128016"/>
          </a:xfrm>
          <a:prstGeom prst="line">
            <a:avLst/>
          </a:prstGeom>
          <a:noFill/>
          <a:ln w="27940">
            <a:solidFill>
              <a:srgbClr val="FCFCF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344706" y="4663440"/>
            <a:ext cx="0" cy="128016"/>
          </a:xfrm>
          <a:prstGeom prst="line">
            <a:avLst/>
          </a:prstGeom>
          <a:noFill/>
          <a:ln w="27940">
            <a:solidFill>
              <a:srgbClr val="FCFCF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881705" y="4663440"/>
            <a:ext cx="0" cy="128016"/>
          </a:xfrm>
          <a:prstGeom prst="line">
            <a:avLst/>
          </a:prstGeom>
          <a:noFill/>
          <a:ln w="27940">
            <a:solidFill>
              <a:srgbClr val="FCFCF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881705" y="4663440"/>
            <a:ext cx="0" cy="128016"/>
          </a:xfrm>
          <a:prstGeom prst="line">
            <a:avLst/>
          </a:prstGeom>
          <a:noFill/>
          <a:ln w="27940">
            <a:solidFill>
              <a:srgbClr val="FCFCF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712811" y="4663440"/>
            <a:ext cx="0" cy="128016"/>
          </a:xfrm>
          <a:prstGeom prst="line">
            <a:avLst/>
          </a:prstGeom>
          <a:noFill/>
          <a:ln w="27940">
            <a:solidFill>
              <a:srgbClr val="FCFCF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712811" y="4663440"/>
            <a:ext cx="0" cy="128016"/>
          </a:xfrm>
          <a:prstGeom prst="line">
            <a:avLst/>
          </a:prstGeom>
          <a:noFill/>
          <a:ln w="27940">
            <a:solidFill>
              <a:srgbClr val="FCFCF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737476" y="4663440"/>
            <a:ext cx="0" cy="128016"/>
          </a:xfrm>
          <a:prstGeom prst="line">
            <a:avLst/>
          </a:prstGeom>
          <a:noFill/>
          <a:ln w="27940">
            <a:solidFill>
              <a:srgbClr val="FCFCF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03462" y="4613148"/>
            <a:ext cx="228600" cy="228600"/>
          </a:xfrm>
          <a:prstGeom prst="ellipse">
            <a:avLst/>
          </a:prstGeom>
          <a:solidFill>
            <a:srgbClr val="FCFCFB"/>
          </a:solidFill>
          <a:ln w="22225">
            <a:solidFill>
              <a:srgbClr val="7030A0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803462" y="46131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04" name="Text 102"/>
          <p:cNvSpPr txBox="1"/>
          <p:nvPr/>
        </p:nvSpPr>
        <p:spPr>
          <a:xfrm>
            <a:off x="369122" y="44897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1244751" y="4613148"/>
            <a:ext cx="228600" cy="228600"/>
          </a:xfrm>
          <a:prstGeom prst="ellipse">
            <a:avLst/>
          </a:prstGeom>
          <a:solidFill>
            <a:srgbClr val="FCFCFB"/>
          </a:solidFill>
          <a:ln w="22225">
            <a:solidFill>
              <a:srgbClr val="7030A0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1244751" y="46131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07" name="Text 105"/>
          <p:cNvSpPr txBox="1"/>
          <p:nvPr/>
        </p:nvSpPr>
        <p:spPr>
          <a:xfrm>
            <a:off x="810411" y="44897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1686041" y="4613148"/>
            <a:ext cx="228600" cy="228600"/>
          </a:xfrm>
          <a:prstGeom prst="ellipse">
            <a:avLst/>
          </a:prstGeom>
          <a:solidFill>
            <a:srgbClr val="FCFCFB"/>
          </a:solidFill>
          <a:ln w="22225">
            <a:solidFill>
              <a:srgbClr val="7030A0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1686041" y="46131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2127330" y="4613148"/>
            <a:ext cx="228600" cy="228600"/>
          </a:xfrm>
          <a:prstGeom prst="ellipse">
            <a:avLst/>
          </a:prstGeom>
          <a:solidFill>
            <a:srgbClr val="FCFCFB"/>
          </a:solidFill>
          <a:ln w="22225">
            <a:solidFill>
              <a:srgbClr val="7030A0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2127330" y="46131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12" name="Text 110"/>
          <p:cNvSpPr txBox="1"/>
          <p:nvPr/>
        </p:nvSpPr>
        <p:spPr>
          <a:xfrm>
            <a:off x="1692990" y="44897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6–9 mo (9)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3621293" y="4613148"/>
            <a:ext cx="228600" cy="228600"/>
          </a:xfrm>
          <a:prstGeom prst="ellipse">
            <a:avLst/>
          </a:prstGeom>
          <a:solidFill>
            <a:srgbClr val="FCFCFB"/>
          </a:solidFill>
          <a:ln w="22225">
            <a:solidFill>
              <a:srgbClr val="7030A0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3621293" y="46131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115" name="Text 113"/>
          <p:cNvSpPr txBox="1"/>
          <p:nvPr/>
        </p:nvSpPr>
        <p:spPr>
          <a:xfrm>
            <a:off x="3186953" y="44897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mo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4475181" y="4613148"/>
            <a:ext cx="228600" cy="228600"/>
          </a:xfrm>
          <a:prstGeom prst="ellipse">
            <a:avLst/>
          </a:prstGeom>
          <a:solidFill>
            <a:srgbClr val="FCFCFB"/>
          </a:solidFill>
          <a:ln w="22225">
            <a:solidFill>
              <a:srgbClr val="7030A0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4475181" y="46131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7036846" y="4613148"/>
            <a:ext cx="228600" cy="228600"/>
          </a:xfrm>
          <a:prstGeom prst="ellipse">
            <a:avLst/>
          </a:prstGeom>
          <a:solidFill>
            <a:srgbClr val="FCFCFB"/>
          </a:solidFill>
          <a:ln w="22225">
            <a:solidFill>
              <a:srgbClr val="7030A0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7036846" y="46131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20" name="Text 118"/>
          <p:cNvSpPr txBox="1"/>
          <p:nvPr/>
        </p:nvSpPr>
        <p:spPr>
          <a:xfrm>
            <a:off x="6602506" y="44897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mo</a:t>
            </a:r>
            <a:endParaRPr lang="en-US" sz="700" dirty="0"/>
          </a:p>
        </p:txBody>
      </p:sp>
      <p:sp>
        <p:nvSpPr>
          <p:cNvPr id="121" name="Shape 119"/>
          <p:cNvSpPr/>
          <p:nvPr/>
        </p:nvSpPr>
        <p:spPr>
          <a:xfrm>
            <a:off x="10110844" y="4613148"/>
            <a:ext cx="228600" cy="228600"/>
          </a:xfrm>
          <a:prstGeom prst="ellipse">
            <a:avLst/>
          </a:prstGeom>
          <a:solidFill>
            <a:srgbClr val="FCFCFB"/>
          </a:solidFill>
          <a:ln w="22225">
            <a:solidFill>
              <a:srgbClr val="7030A0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10110844" y="46131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123" name="Text 121"/>
          <p:cNvSpPr txBox="1"/>
          <p:nvPr/>
        </p:nvSpPr>
        <p:spPr>
          <a:xfrm>
            <a:off x="9676504" y="44897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mo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10941872" y="4590288"/>
            <a:ext cx="274320" cy="274320"/>
          </a:xfrm>
          <a:prstGeom prst="star5">
            <a:avLst/>
          </a:prstGeom>
          <a:solidFill>
            <a:srgbClr val="FCFCFB">
              <a:alpha val="0"/>
            </a:srgbClr>
          </a:solidFill>
          <a:ln w="19050">
            <a:solidFill>
              <a:srgbClr val="7030A0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9158792" y="419709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Commercialisation</a:t>
            </a:r>
            <a:endParaRPr lang="en-US" sz="900" dirty="0"/>
          </a:p>
        </p:txBody>
      </p:sp>
      <p:sp>
        <p:nvSpPr>
          <p:cNvPr id="126" name="Text 124"/>
          <p:cNvSpPr txBox="1"/>
          <p:nvPr/>
        </p:nvSpPr>
        <p:spPr>
          <a:xfrm>
            <a:off x="9158792" y="439826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(target, assumption)</a:t>
            </a:r>
            <a:endParaRPr lang="en-US" sz="700" dirty="0"/>
          </a:p>
        </p:txBody>
      </p:sp>
      <p:sp>
        <p:nvSpPr>
          <p:cNvPr id="127" name="Text 125"/>
          <p:cNvSpPr txBox="1"/>
          <p:nvPr/>
        </p:nvSpPr>
        <p:spPr>
          <a:xfrm>
            <a:off x="429768" y="5020056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Issue RFP — 1 month (input)</a:t>
            </a:r>
            <a:endParaRPr lang="en-US" sz="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Finalise bilateral agreement with OEM — 2 months (input)</a:t>
            </a:r>
            <a:endParaRPr lang="en-US" sz="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Kickoff (input)</a:t>
            </a:r>
            <a:endParaRPr lang="en-US" sz="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Pre-FEED study — 6–9 months, shown 9 (input)</a:t>
            </a:r>
            <a:endParaRPr lang="en-US" sz="800" dirty="0"/>
          </a:p>
        </p:txBody>
      </p:sp>
      <p:sp>
        <p:nvSpPr>
          <p:cNvPr id="128" name="Text 126"/>
          <p:cNvSpPr txBox="1"/>
          <p:nvPr/>
        </p:nvSpPr>
        <p:spPr>
          <a:xfrm>
            <a:off x="6172200" y="5020056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FEED — ~10 months (assumption)</a:t>
            </a:r>
            <a:endParaRPr lang="en-US" sz="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FID — Final Investment Decision (assumption)</a:t>
            </a:r>
            <a:endParaRPr lang="en-US" sz="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EPC — engineering, procurement &amp; construction — ~30 months (assumption)</a:t>
            </a:r>
            <a:endParaRPr lang="en-US" sz="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Commissioning &amp; start-up — ~6 months (assumption)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320040" y="6227064"/>
            <a:ext cx="11612880" cy="0"/>
          </a:xfrm>
          <a:prstGeom prst="line">
            <a:avLst/>
          </a:prstGeom>
          <a:noFill/>
          <a:ln w="12700">
            <a:solidFill>
              <a:srgbClr val="C3C2B7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603773" y="6245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700" dirty="0"/>
          </a:p>
        </p:txBody>
      </p:sp>
      <p:sp>
        <p:nvSpPr>
          <p:cNvPr id="131" name="Text 129"/>
          <p:cNvSpPr txBox="1"/>
          <p:nvPr/>
        </p:nvSpPr>
        <p:spPr>
          <a:xfrm>
            <a:off x="1116106" y="6245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700" dirty="0"/>
          </a:p>
        </p:txBody>
      </p:sp>
      <p:sp>
        <p:nvSpPr>
          <p:cNvPr id="132" name="Text 130"/>
          <p:cNvSpPr txBox="1"/>
          <p:nvPr/>
        </p:nvSpPr>
        <p:spPr>
          <a:xfrm>
            <a:off x="1628439" y="6245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700" dirty="0"/>
          </a:p>
        </p:txBody>
      </p:sp>
      <p:sp>
        <p:nvSpPr>
          <p:cNvPr id="133" name="Text 131"/>
          <p:cNvSpPr txBox="1"/>
          <p:nvPr/>
        </p:nvSpPr>
        <p:spPr>
          <a:xfrm>
            <a:off x="2140772" y="6245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700" dirty="0"/>
          </a:p>
        </p:txBody>
      </p:sp>
      <p:sp>
        <p:nvSpPr>
          <p:cNvPr id="134" name="Text 132"/>
          <p:cNvSpPr txBox="1"/>
          <p:nvPr/>
        </p:nvSpPr>
        <p:spPr>
          <a:xfrm>
            <a:off x="2653105" y="6245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700" dirty="0"/>
          </a:p>
        </p:txBody>
      </p:sp>
      <p:sp>
        <p:nvSpPr>
          <p:cNvPr id="135" name="Text 133"/>
          <p:cNvSpPr txBox="1"/>
          <p:nvPr/>
        </p:nvSpPr>
        <p:spPr>
          <a:xfrm>
            <a:off x="3165438" y="6245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700" dirty="0"/>
          </a:p>
        </p:txBody>
      </p:sp>
      <p:sp>
        <p:nvSpPr>
          <p:cNvPr id="136" name="Text 134"/>
          <p:cNvSpPr txBox="1"/>
          <p:nvPr/>
        </p:nvSpPr>
        <p:spPr>
          <a:xfrm>
            <a:off x="3677771" y="6245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700" dirty="0"/>
          </a:p>
        </p:txBody>
      </p:sp>
      <p:sp>
        <p:nvSpPr>
          <p:cNvPr id="137" name="Text 135"/>
          <p:cNvSpPr txBox="1"/>
          <p:nvPr/>
        </p:nvSpPr>
        <p:spPr>
          <a:xfrm>
            <a:off x="4190104" y="6245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700" dirty="0"/>
          </a:p>
        </p:txBody>
      </p:sp>
      <p:sp>
        <p:nvSpPr>
          <p:cNvPr id="138" name="Text 136"/>
          <p:cNvSpPr txBox="1"/>
          <p:nvPr/>
        </p:nvSpPr>
        <p:spPr>
          <a:xfrm>
            <a:off x="4702436" y="6245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700" dirty="0"/>
          </a:p>
        </p:txBody>
      </p:sp>
      <p:sp>
        <p:nvSpPr>
          <p:cNvPr id="139" name="Text 137"/>
          <p:cNvSpPr txBox="1"/>
          <p:nvPr/>
        </p:nvSpPr>
        <p:spPr>
          <a:xfrm>
            <a:off x="5214769" y="6245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700" dirty="0"/>
          </a:p>
        </p:txBody>
      </p:sp>
      <p:sp>
        <p:nvSpPr>
          <p:cNvPr id="140" name="Text 138"/>
          <p:cNvSpPr txBox="1"/>
          <p:nvPr/>
        </p:nvSpPr>
        <p:spPr>
          <a:xfrm>
            <a:off x="5727102" y="6245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700" dirty="0"/>
          </a:p>
        </p:txBody>
      </p:sp>
      <p:sp>
        <p:nvSpPr>
          <p:cNvPr id="141" name="Text 139"/>
          <p:cNvSpPr txBox="1"/>
          <p:nvPr/>
        </p:nvSpPr>
        <p:spPr>
          <a:xfrm>
            <a:off x="6239435" y="6245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700" dirty="0"/>
          </a:p>
        </p:txBody>
      </p:sp>
      <p:sp>
        <p:nvSpPr>
          <p:cNvPr id="142" name="Text 140"/>
          <p:cNvSpPr txBox="1"/>
          <p:nvPr/>
        </p:nvSpPr>
        <p:spPr>
          <a:xfrm>
            <a:off x="6751768" y="6245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700" dirty="0"/>
          </a:p>
        </p:txBody>
      </p:sp>
      <p:sp>
        <p:nvSpPr>
          <p:cNvPr id="143" name="Text 141"/>
          <p:cNvSpPr txBox="1"/>
          <p:nvPr/>
        </p:nvSpPr>
        <p:spPr>
          <a:xfrm>
            <a:off x="7264101" y="6245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700" dirty="0"/>
          </a:p>
        </p:txBody>
      </p:sp>
      <p:sp>
        <p:nvSpPr>
          <p:cNvPr id="144" name="Text 142"/>
          <p:cNvSpPr txBox="1"/>
          <p:nvPr/>
        </p:nvSpPr>
        <p:spPr>
          <a:xfrm>
            <a:off x="7776434" y="6245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700" dirty="0"/>
          </a:p>
        </p:txBody>
      </p:sp>
      <p:sp>
        <p:nvSpPr>
          <p:cNvPr id="145" name="Text 143"/>
          <p:cNvSpPr txBox="1"/>
          <p:nvPr/>
        </p:nvSpPr>
        <p:spPr>
          <a:xfrm>
            <a:off x="8288767" y="6245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700" dirty="0"/>
          </a:p>
        </p:txBody>
      </p:sp>
      <p:sp>
        <p:nvSpPr>
          <p:cNvPr id="146" name="Text 144"/>
          <p:cNvSpPr txBox="1"/>
          <p:nvPr/>
        </p:nvSpPr>
        <p:spPr>
          <a:xfrm>
            <a:off x="8801100" y="6245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700" dirty="0"/>
          </a:p>
        </p:txBody>
      </p:sp>
      <p:sp>
        <p:nvSpPr>
          <p:cNvPr id="147" name="Text 145"/>
          <p:cNvSpPr txBox="1"/>
          <p:nvPr/>
        </p:nvSpPr>
        <p:spPr>
          <a:xfrm>
            <a:off x="9313433" y="6245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700" dirty="0"/>
          </a:p>
        </p:txBody>
      </p:sp>
      <p:sp>
        <p:nvSpPr>
          <p:cNvPr id="148" name="Text 146"/>
          <p:cNvSpPr txBox="1"/>
          <p:nvPr/>
        </p:nvSpPr>
        <p:spPr>
          <a:xfrm>
            <a:off x="9825766" y="6245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700" dirty="0"/>
          </a:p>
        </p:txBody>
      </p:sp>
      <p:sp>
        <p:nvSpPr>
          <p:cNvPr id="149" name="Text 147"/>
          <p:cNvSpPr txBox="1"/>
          <p:nvPr/>
        </p:nvSpPr>
        <p:spPr>
          <a:xfrm>
            <a:off x="10338099" y="6245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700" dirty="0"/>
          </a:p>
        </p:txBody>
      </p:sp>
      <p:sp>
        <p:nvSpPr>
          <p:cNvPr id="150" name="Text 148"/>
          <p:cNvSpPr txBox="1"/>
          <p:nvPr/>
        </p:nvSpPr>
        <p:spPr>
          <a:xfrm>
            <a:off x="10850432" y="6245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700" dirty="0"/>
          </a:p>
        </p:txBody>
      </p:sp>
      <p:sp>
        <p:nvSpPr>
          <p:cNvPr id="151" name="Text 149"/>
          <p:cNvSpPr txBox="1"/>
          <p:nvPr/>
        </p:nvSpPr>
        <p:spPr>
          <a:xfrm>
            <a:off x="11362765" y="6245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700" dirty="0"/>
          </a:p>
        </p:txBody>
      </p:sp>
      <p:sp>
        <p:nvSpPr>
          <p:cNvPr id="152" name="Text 150"/>
          <p:cNvSpPr txBox="1"/>
          <p:nvPr/>
        </p:nvSpPr>
        <p:spPr>
          <a:xfrm>
            <a:off x="320040" y="6428232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3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rows/bars/italic labels = AWS/research_OEM (public-search survey); coloured rows = AWS/comm_OEM (OEMs' own commercial decks — IHI→Gentari deck 27 Aug 2026; Wärtsilä→MISC deck 1 Sep 2026; HiMSEN ammonia engine deck).</a:t>
            </a:r>
            <a:endParaRPr lang="en-US" sz="73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73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= indicative readiness/commercialisation date or milestone. Hatched bars (dashed border, lighter fill) = planned, uncertain, or unverified.</a:t>
            </a:r>
            <a:endParaRPr lang="en-US" sz="73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73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Gentari pathway (①–⑧): RFP timed to follow Wärtsilä ammonia-engine commercialisation (assumption). ①–④ are user-specified inputs; ⑤–⑧ are Claude-filled indicative assumptions (not sourced) — confirm in memory.md before use.</a:t>
            </a:r>
            <a:endParaRPr lang="en-US" sz="7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2026-09-19T17:52:59Z</dcterms:created>
  <dcterms:modified xsi:type="dcterms:W3CDTF">2026-09-19T17:52:59Z</dcterms:modified>
</cp:coreProperties>
</file>