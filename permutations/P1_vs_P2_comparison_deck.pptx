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300">
                <a:solidFill>
                  <a:srgbClr val="8A93A3"/>
                </a:solidFill>
                <a:latin typeface="Consolas"/>
              </a:rPr>
              <a:t>WELL-TO-WIRE ENERGY ASSESSMENT  ·  REV 1 (SOURCED)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41732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8EAED"/>
                </a:solidFill>
                <a:latin typeface="Arial"/>
              </a:rPr>
              <a:t>650 kilotonnes of ammonia,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2212848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E8EAED"/>
                </a:solidFill>
                <a:latin typeface="Arial"/>
              </a:rPr>
              <a:t>one strait, two destinies.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429000"/>
            <a:ext cx="5212080" cy="178308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429000"/>
            <a:ext cx="54864" cy="178308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60">
                <a:solidFill>
                  <a:srgbClr val="2DE2E6"/>
                </a:solidFill>
                <a:latin typeface="Consolas"/>
              </a:rPr>
              <a:t>P1 · HYDROGEN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41648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E8EAED"/>
                </a:solidFill>
                <a:latin typeface="Arial"/>
              </a:rPr>
              <a:t>Crack at MMHE (Johor) → 16″ H₂ pipeline → H₂-fired CCGT in Singapore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2628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E2E6"/>
                </a:solidFill>
                <a:latin typeface="Arial"/>
              </a:rPr>
              <a:t>54.4%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47365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3A3"/>
                </a:solidFill>
                <a:latin typeface="Consolas"/>
              </a:rPr>
              <a:t>usable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3429000"/>
            <a:ext cx="5212080" cy="178308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3429000"/>
            <a:ext cx="54864" cy="178308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60">
                <a:solidFill>
                  <a:srgbClr val="F4A93A"/>
                </a:solidFill>
                <a:latin typeface="Consolas"/>
              </a:rPr>
              <a:t>P2 · AMMONIA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41648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>
                <a:solidFill>
                  <a:srgbClr val="E8EAED"/>
                </a:solidFill>
                <a:latin typeface="Arial"/>
              </a:rPr>
              <a:t>Ship NH₃ to Singapore → store → 100% ammonia-fired CCGT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4526280"/>
            <a:ext cx="1645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A93A"/>
                </a:solidFill>
                <a:latin typeface="Arial"/>
              </a:rPr>
              <a:t>50.7%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44200" y="4736592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A93A3"/>
                </a:solidFill>
                <a:latin typeface="Consolas"/>
              </a:rPr>
              <a:t>usable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8A93A3"/>
                </a:solidFill>
                <a:latin typeface="Arial"/>
              </a:rPr>
              <a:t>Same ammonia from India. Question: what fraction of its chemical energy (LHV) survives as electricity at the Singapore busbar — and which design is technically better?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THE QUESTION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2DE2E6"/>
                </a:solidFill>
                <a:latin typeface="Consolas"/>
              </a:rPr>
              <a:t>WHERE THE TWO PATHS DIVERGE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8EAED"/>
                </a:solidFill>
                <a:latin typeface="Arial"/>
              </a:rPr>
              <a:t>Same ship, same tank — then the chain splits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8A93A3"/>
                </a:solidFill>
                <a:latin typeface="Arial"/>
              </a:rPr>
              <a:t>India→Johor ≈ India→Singapore (same strait) and both store refrigerated NH₃. Those stages are common-mode and cancel. The ranking is decided only downstream of storage.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8A93A3"/>
                </a:solidFill>
                <a:latin typeface="Consolas"/>
              </a:rPr>
              <a:t>COMMON</a:t>
            </a:r>
          </a:p>
        </p:txBody>
      </p:sp>
      <p:sp>
        <p:nvSpPr>
          <p:cNvPr id="7" name="Chevron 6"/>
          <p:cNvSpPr/>
          <p:nvPr/>
        </p:nvSpPr>
        <p:spPr>
          <a:xfrm>
            <a:off x="640080" y="2697480"/>
            <a:ext cx="1783080" cy="868680"/>
          </a:xfrm>
          <a:prstGeom prst="chevron">
            <a:avLst/>
          </a:prstGeom>
          <a:solidFill>
            <a:srgbClr val="17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843784"/>
            <a:ext cx="16916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EAED"/>
                </a:solidFill>
                <a:latin typeface="Arial"/>
              </a:rPr>
              <a:t>Green NH₃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209544"/>
            <a:ext cx="1691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8EAED"/>
                </a:solidFill>
                <a:latin typeface="Consolas"/>
              </a:rPr>
              <a:t>650 ktpa</a:t>
            </a:r>
          </a:p>
        </p:txBody>
      </p:sp>
      <p:sp>
        <p:nvSpPr>
          <p:cNvPr id="10" name="Chevron 9"/>
          <p:cNvSpPr/>
          <p:nvPr/>
        </p:nvSpPr>
        <p:spPr>
          <a:xfrm>
            <a:off x="2286000" y="2697480"/>
            <a:ext cx="1783080" cy="868680"/>
          </a:xfrm>
          <a:prstGeom prst="chevron">
            <a:avLst/>
          </a:prstGeom>
          <a:solidFill>
            <a:srgbClr val="17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95728" y="2843784"/>
            <a:ext cx="16916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EAED"/>
                </a:solidFill>
                <a:latin typeface="Arial"/>
              </a:rPr>
              <a:t>Sea, India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3209544"/>
            <a:ext cx="1691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8EAED"/>
                </a:solidFill>
                <a:latin typeface="Consolas"/>
              </a:rPr>
              <a:t>28 kt carrier</a:t>
            </a:r>
          </a:p>
        </p:txBody>
      </p:sp>
      <p:sp>
        <p:nvSpPr>
          <p:cNvPr id="13" name="Chevron 12"/>
          <p:cNvSpPr/>
          <p:nvPr/>
        </p:nvSpPr>
        <p:spPr>
          <a:xfrm>
            <a:off x="3931920" y="2697480"/>
            <a:ext cx="1783080" cy="868680"/>
          </a:xfrm>
          <a:prstGeom prst="chevron">
            <a:avLst/>
          </a:prstGeom>
          <a:solidFill>
            <a:srgbClr val="171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2843784"/>
            <a:ext cx="1691639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8EAED"/>
                </a:solidFill>
                <a:latin typeface="Arial"/>
              </a:rPr>
              <a:t>NH₃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3209544"/>
            <a:ext cx="16916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E8EAED"/>
                </a:solidFill>
                <a:latin typeface="Consolas"/>
              </a:rPr>
              <a:t>refrigerated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2194560"/>
            <a:ext cx="18288" cy="3108960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2120" y="228600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200">
                <a:solidFill>
                  <a:srgbClr val="E8EAED"/>
                </a:solidFill>
                <a:latin typeface="Consolas"/>
              </a:rPr>
              <a:t>SPLIT</a:t>
            </a:r>
          </a:p>
        </p:txBody>
      </p:sp>
      <p:sp>
        <p:nvSpPr>
          <p:cNvPr id="18" name="Chevron 17"/>
          <p:cNvSpPr/>
          <p:nvPr/>
        </p:nvSpPr>
        <p:spPr>
          <a:xfrm>
            <a:off x="5989320" y="1783080"/>
            <a:ext cx="1600200" cy="822960"/>
          </a:xfrm>
          <a:prstGeom prst="chevron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9048" y="1929384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0E14"/>
                </a:solidFill>
                <a:latin typeface="Arial"/>
              </a:rPr>
              <a:t>Cracker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9048" y="229514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B0E14"/>
                </a:solidFill>
                <a:latin typeface="Consolas"/>
              </a:rPr>
              <a:t>NH₃→H₂  89%</a:t>
            </a:r>
          </a:p>
        </p:txBody>
      </p:sp>
      <p:sp>
        <p:nvSpPr>
          <p:cNvPr id="21" name="Chevron 20"/>
          <p:cNvSpPr/>
          <p:nvPr/>
        </p:nvSpPr>
        <p:spPr>
          <a:xfrm>
            <a:off x="7498079" y="1783080"/>
            <a:ext cx="1600200" cy="822960"/>
          </a:xfrm>
          <a:prstGeom prst="chevron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7" y="1929384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0E14"/>
                </a:solidFill>
                <a:latin typeface="Arial"/>
              </a:rPr>
              <a:t>H₂ pipe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7" y="229514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B0E14"/>
                </a:solidFill>
                <a:latin typeface="Consolas"/>
              </a:rPr>
              <a:t>16″ to SG</a:t>
            </a:r>
          </a:p>
        </p:txBody>
      </p:sp>
      <p:sp>
        <p:nvSpPr>
          <p:cNvPr id="24" name="Chevron 23"/>
          <p:cNvSpPr/>
          <p:nvPr/>
        </p:nvSpPr>
        <p:spPr>
          <a:xfrm>
            <a:off x="9006840" y="1783080"/>
            <a:ext cx="1600200" cy="822960"/>
          </a:xfrm>
          <a:prstGeom prst="chevron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16567" y="1929384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0E14"/>
                </a:solidFill>
                <a:latin typeface="Arial"/>
              </a:rPr>
              <a:t>H₂ CCGT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6567" y="229514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B0E14"/>
                </a:solidFill>
                <a:latin typeface="Consolas"/>
              </a:rPr>
              <a:t>H-class 62%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61320" y="1783080"/>
            <a:ext cx="1143000" cy="82296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61320" y="1783080"/>
            <a:ext cx="45720" cy="82296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188366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2DE2E6"/>
                </a:solidFill>
                <a:latin typeface="Arial"/>
              </a:rPr>
              <a:t>54.4%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5328" y="22860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A3"/>
                </a:solidFill>
                <a:latin typeface="Consolas"/>
              </a:rPr>
              <a:t>to wire</a:t>
            </a:r>
          </a:p>
        </p:txBody>
      </p:sp>
      <p:sp>
        <p:nvSpPr>
          <p:cNvPr id="31" name="Chevron 30"/>
          <p:cNvSpPr/>
          <p:nvPr/>
        </p:nvSpPr>
        <p:spPr>
          <a:xfrm>
            <a:off x="5989320" y="4480560"/>
            <a:ext cx="1600200" cy="822960"/>
          </a:xfrm>
          <a:prstGeom prst="chevron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9048" y="4626864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0E14"/>
                </a:solidFill>
                <a:latin typeface="Arial"/>
              </a:rPr>
              <a:t>(no crack)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99048" y="499262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B0E14"/>
                </a:solidFill>
                <a:latin typeface="Consolas"/>
              </a:rPr>
              <a:t>direct</a:t>
            </a:r>
          </a:p>
        </p:txBody>
      </p:sp>
      <p:sp>
        <p:nvSpPr>
          <p:cNvPr id="34" name="Chevron 33"/>
          <p:cNvSpPr/>
          <p:nvPr/>
        </p:nvSpPr>
        <p:spPr>
          <a:xfrm>
            <a:off x="7498079" y="4480560"/>
            <a:ext cx="1600200" cy="822960"/>
          </a:xfrm>
          <a:prstGeom prst="chevron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07807" y="4626864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0E14"/>
                </a:solidFill>
                <a:latin typeface="Arial"/>
              </a:rPr>
              <a:t>(no pipe)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7807" y="499262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B0E14"/>
                </a:solidFill>
                <a:latin typeface="Consolas"/>
              </a:rPr>
              <a:t>NH₃ in SG</a:t>
            </a:r>
          </a:p>
        </p:txBody>
      </p:sp>
      <p:sp>
        <p:nvSpPr>
          <p:cNvPr id="37" name="Chevron 36"/>
          <p:cNvSpPr/>
          <p:nvPr/>
        </p:nvSpPr>
        <p:spPr>
          <a:xfrm>
            <a:off x="9006840" y="4480560"/>
            <a:ext cx="1600200" cy="822960"/>
          </a:xfrm>
          <a:prstGeom prst="chevron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6567" y="4626864"/>
            <a:ext cx="1508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0E14"/>
                </a:solidFill>
                <a:latin typeface="Arial"/>
              </a:rPr>
              <a:t>NH₃ CCGT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567" y="4992624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0B0E14"/>
                </a:solidFill>
                <a:latin typeface="Consolas"/>
              </a:rPr>
              <a:t>40MW 51%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561320" y="4480560"/>
            <a:ext cx="1143000" cy="82296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561320" y="4480560"/>
            <a:ext cx="45720" cy="82296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07040" y="4581144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4A93A"/>
                </a:solidFill>
                <a:latin typeface="Arial"/>
              </a:rPr>
              <a:t>50.7%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25328" y="498348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3A3"/>
                </a:solidFill>
                <a:latin typeface="Consolas"/>
              </a:rPr>
              <a:t>to wire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715000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8A93A3"/>
                </a:solidFill>
                <a:latin typeface="Arial"/>
              </a:rPr>
              <a:t>P1 adds two conversion steps (cracker + pipeline) but earns access to a far better turbine. P2 keeps it simple but is stuck with a small turbine. That trade is the whole story.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SYSTEM MAP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93A"/>
                </a:solidFill>
                <a:latin typeface="Consolas"/>
              </a:rPr>
              <a:t>THE REFERENCE — WHAT 650 KTPA IS WORTH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8EAED"/>
                </a:solidFill>
                <a:latin typeface="Arial"/>
              </a:rPr>
              <a:t>One yardstick: the LHV of the ammonia loaded in India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120640" cy="310896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54864" cy="310896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4A93A"/>
                </a:solidFill>
                <a:latin typeface="Arial"/>
              </a:rPr>
              <a:t>650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EAED"/>
                </a:solidFill>
                <a:latin typeface="Arial"/>
              </a:rPr>
              <a:t>ktpa green ammonia · 28 kt carriers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3A3"/>
                </a:solidFill>
                <a:latin typeface="Consolas"/>
              </a:rPr>
              <a:t>×  18.6 MJ/kg  (NH₃ LHV)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" y="4297680"/>
            <a:ext cx="4480560" cy="18288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434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E8EAED"/>
                </a:solidFill>
                <a:latin typeface="Consolas"/>
              </a:rPr>
              <a:t>= 12.09 PJ/yr  ≡  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920240"/>
            <a:ext cx="5486400" cy="310896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1488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60">
                <a:solidFill>
                  <a:srgbClr val="2DE2E6"/>
                </a:solidFill>
                <a:latin typeface="Consolas"/>
              </a:rPr>
              <a:t>WHY IT'S A FAIR BASIS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0604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93A"/>
                </a:solidFill>
                <a:latin typeface="Arial"/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6060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AED"/>
                </a:solidFill>
                <a:latin typeface="Arial"/>
              </a:rPr>
              <a:t>Identical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9864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3A3"/>
                </a:solidFill>
                <a:latin typeface="Arial"/>
              </a:rPr>
              <a:t>Both permutations carry the same 650 ktpa from India.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38328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93A"/>
                </a:solidFill>
                <a:latin typeface="Arial"/>
              </a:rPr>
              <a:t>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3832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AED"/>
                </a:solidFill>
                <a:latin typeface="Arial"/>
              </a:rPr>
              <a:t>Common-mode cancels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67588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3A3"/>
                </a:solidFill>
                <a:latin typeface="Arial"/>
              </a:rPr>
              <a:t>Sea leg + refrigerated NH₃ storage are ~equal (Johor and Singapore share the strait) → ≈0.995 for both.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160520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93A"/>
                </a:solidFill>
                <a:latin typeface="Arial"/>
              </a:rPr>
              <a:t>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1605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8EAED"/>
                </a:solidFill>
                <a:latin typeface="Arial"/>
              </a:rPr>
              <a:t>Everything traceable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453128"/>
            <a:ext cx="4663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8A93A3"/>
                </a:solidFill>
                <a:latin typeface="Arial"/>
              </a:rPr>
              <a:t>Each loss is a sourced efficiency or a flagged assumption — no invented numbers.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4924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8A93A3"/>
                </a:solidFill>
                <a:latin typeface="Arial"/>
              </a:rPr>
              <a:t>Convert once, compare in percentages. Electricity at the busbar ÷ 12.09 PJ = the single figure of merit.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REFERENCE BASIS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2DE2E6"/>
                </a:solidFill>
                <a:latin typeface="Consolas"/>
              </a:rPr>
              <a:t>THE ENERGY CASCADE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AED"/>
                </a:solidFill>
                <a:latin typeface="Arial"/>
              </a:rPr>
              <a:t>Follow the energy down — P1 ends higher</a:t>
            </a:r>
          </a:p>
        </p:txBody>
      </p:sp>
      <p:pic>
        <p:nvPicPr>
          <p:cNvPr id="5" name="Picture 4" descr="c_casc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4480"/>
            <a:ext cx="7955279" cy="37610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1691640"/>
            <a:ext cx="3017520" cy="416052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15400" y="1874519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200">
                <a:solidFill>
                  <a:srgbClr val="8A93A3"/>
                </a:solidFill>
                <a:latin typeface="Consolas"/>
              </a:rPr>
              <a:t>READOUT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240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DE2E6"/>
                </a:solidFill>
                <a:latin typeface="Consolas"/>
              </a:rPr>
              <a:t>P1 · H₂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2542032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2DE2E6"/>
                </a:solidFill>
                <a:latin typeface="Arial"/>
              </a:rPr>
              <a:t>54.4%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12724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3A3"/>
                </a:solidFill>
                <a:latin typeface="Consolas"/>
              </a:rPr>
              <a:t>≈ 1,826 GWh/yr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3611880"/>
            <a:ext cx="2560320" cy="18288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74903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4A93A"/>
                </a:solidFill>
                <a:latin typeface="Consolas"/>
              </a:rPr>
              <a:t>P2 · NH₃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050791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A93A"/>
                </a:solidFill>
                <a:latin typeface="Arial"/>
              </a:rPr>
              <a:t>50.7%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6360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3A3"/>
                </a:solidFill>
                <a:latin typeface="Consolas"/>
              </a:rPr>
              <a:t>≈ 1,704 GWh/yr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5120640"/>
            <a:ext cx="2560320" cy="18288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523036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6EE0A8"/>
                </a:solidFill>
                <a:latin typeface="Consolas"/>
              </a:rPr>
              <a:t>Δ  +3.7 pts to P1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553212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8A93A3"/>
                </a:solidFill>
                <a:latin typeface="Consolas"/>
              </a:rPr>
              <a:t>≈ +122 GWh/yr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89320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Cracker costs P1 ~11 pts — then the turbine pays it back with interest.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ENERGY WATERFALL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93A"/>
                </a:solidFill>
                <a:latin typeface="Consolas"/>
              </a:rPr>
              <a:t>THE DECISIVE ASYMMETRY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8EAED"/>
                </a:solidFill>
                <a:latin typeface="Arial"/>
              </a:rPr>
              <a:t>Hydrogen and ammonia don't get the same engine</a:t>
            </a:r>
          </a:p>
        </p:txBody>
      </p:sp>
      <p:pic>
        <p:nvPicPr>
          <p:cNvPr id="5" name="Picture 4" descr="c_turb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029200" cy="41003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91640"/>
            <a:ext cx="5577840" cy="402336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0" y="1901952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40">
                <a:solidFill>
                  <a:srgbClr val="2DE2E6"/>
                </a:solidFill>
                <a:latin typeface="Consolas"/>
              </a:rPr>
              <a:t>WHAT'S ACTUALLY ON THE 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3774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2DE2E6"/>
                </a:solidFill>
                <a:latin typeface="Consolas"/>
              </a:rPr>
              <a:t>H₂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37744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E8EAED"/>
                </a:solidFill>
                <a:latin typeface="Arial"/>
              </a:rPr>
              <a:t>Large H-class CCGT (GE 9HA.02): 64.0% net on gas, 50% H₂ now, roadmap to 100%.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4290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4A93A"/>
                </a:solidFill>
                <a:latin typeface="Consolas"/>
              </a:rPr>
              <a:t>NH₃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42900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E8EAED"/>
                </a:solidFill>
                <a:latin typeface="Arial"/>
              </a:rPr>
              <a:t>100% ammonia only commercialised on a 40 MW-class machine (MHI H-25, ~2025): ~51% GTCC.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4805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6EE0A8"/>
                </a:solidFill>
                <a:latin typeface="Consolas"/>
              </a:rPr>
              <a:t>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4480560"/>
            <a:ext cx="4297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>
                <a:solidFill>
                  <a:srgbClr val="E8EAED"/>
                </a:solidFill>
                <a:latin typeface="Arial"/>
              </a:rPr>
              <a:t>The ~13-point turbine gap outweighs the ~11-point cracking penalty. Hydrogen wins because of the engine it unlocks.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3A3"/>
                </a:solidFill>
                <a:latin typeface="Consolas"/>
              </a:rPr>
              <a:t>Sources: GE Vernova / Turbomachinery Magazine (9HA.02);  Mitsubishi Power / MHPS (H-25, world-first 100% NH₃ 40MW GT).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TURBINE CLASS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2DE2E6"/>
                </a:solidFill>
                <a:latin typeface="Consolas"/>
              </a:rPr>
              <a:t>THE SENSITIVITY — AND THE CAVEAT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1612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E8EAED"/>
                </a:solidFill>
                <a:latin typeface="Arial"/>
              </a:rPr>
              <a:t>P2's only path to winning: a turbine that doesn't exist yet</a:t>
            </a:r>
          </a:p>
        </p:txBody>
      </p:sp>
      <p:pic>
        <p:nvPicPr>
          <p:cNvPr id="5" name="Picture 4" descr="c_sl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498079" cy="384393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691640"/>
            <a:ext cx="3474720" cy="41148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87451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80">
                <a:solidFill>
                  <a:srgbClr val="8A93A3"/>
                </a:solidFill>
                <a:latin typeface="Consolas"/>
              </a:rPr>
              <a:t>TWO 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2402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DE2E6"/>
                </a:solidFill>
                <a:latin typeface="Consola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542032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EAED"/>
                </a:solidFill>
                <a:latin typeface="Arial"/>
              </a:rPr>
              <a:t>Real machines (H₂ 62% / NH₃ 51%):</a:t>
            </a:r>
          </a:p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EAED"/>
                </a:solidFill>
                <a:latin typeface="Arial"/>
              </a:rPr>
              <a:t>P1 54.4% &gt; P2 50.7%. Hydrogen wins.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58200" y="3520440"/>
            <a:ext cx="3017520" cy="18288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36576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4A93A"/>
                </a:solidFill>
                <a:latin typeface="Consolas"/>
              </a:rPr>
              <a:t>PARITY (hypothetical)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3959352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EAED"/>
                </a:solidFill>
                <a:latin typeface="Arial"/>
              </a:rPr>
              <a:t>If a large 100% NH₃ turbine reached ~63%: P2 63% &gt; P1 55%. Ammonia would win — cracking becomes pure deadweight.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58200" y="5166360"/>
            <a:ext cx="3017520" cy="18288"/>
          </a:xfrm>
          <a:prstGeom prst="rect">
            <a:avLst/>
          </a:prstGeom>
          <a:solidFill>
            <a:srgbClr val="2A2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528523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So the bet is on turbine roadmaps, not chemistry.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SENSITIVITY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60">
                <a:solidFill>
                  <a:srgbClr val="F4A93A"/>
                </a:solidFill>
                <a:latin typeface="Consolas"/>
              </a:rPr>
              <a:t>BEYOND EFFICIENCY — THE FULL SCORECARD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1338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E8EAED"/>
                </a:solidFill>
                <a:latin typeface="Arial"/>
              </a:rPr>
              <a:t>P1 now leads on energy and on most other axes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E8EAED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2DE2E6"/>
                </a:solidFill>
                <a:latin typeface="Consolas"/>
              </a:rPr>
              <a:t>P1 · H₂ ROUTE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20">
                <a:solidFill>
                  <a:srgbClr val="F4A93A"/>
                </a:solidFill>
                <a:latin typeface="Consolas"/>
              </a:rPr>
              <a:t>P2 · NH₃ ROUTE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19" y="2194560"/>
            <a:ext cx="11338560" cy="54864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AED"/>
                </a:solidFill>
                <a:latin typeface="Arial"/>
              </a:rPr>
              <a:t>Usable-energy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24028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54.4%  ◄ leads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4028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50.7%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AED"/>
                </a:solidFill>
                <a:latin typeface="Arial"/>
              </a:rPr>
              <a:t>Power-block maturity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78892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H-class, 50→100% H₂  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78892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100% NH₃ only ~2025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19" y="3291840"/>
            <a:ext cx="11338560" cy="54864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37560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AED"/>
                </a:solidFill>
                <a:latin typeface="Arial"/>
              </a:rPr>
              <a:t>Turbine efficiency 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33756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~64% available  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33756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~51%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AED"/>
                </a:solidFill>
                <a:latin typeface="Arial"/>
              </a:rPr>
              <a:t>Combustion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8620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no carbon, no N₂O  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88620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NOx + N₂O, NH₃ slip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19" y="4389120"/>
            <a:ext cx="11338560" cy="54864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434840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AED"/>
                </a:solidFill>
                <a:latin typeface="Arial"/>
              </a:rPr>
              <a:t>Where the hazard sits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43484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NH₃ stays in Johor  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434840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NH₃ store+burn in SG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983479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AED"/>
                </a:solidFill>
                <a:latin typeface="Arial"/>
              </a:rPr>
              <a:t>Process simplicity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983479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cracker +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983479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fewer steps  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19" y="5486399"/>
            <a:ext cx="11338560" cy="54864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532119"/>
            <a:ext cx="402335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AED"/>
                </a:solidFill>
                <a:latin typeface="Arial"/>
              </a:rPr>
              <a:t>Strategic fit (SG H₂)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532119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6EE0A8"/>
                </a:solidFill>
                <a:latin typeface="Arial"/>
              </a:rPr>
              <a:t>delivers H₂  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5532119"/>
            <a:ext cx="3474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delivers power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P2's sole advantage is fewer steps. Everything else — efficiency, maturity, safety siting, emissions, strategy — points to P1.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SCORECARD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320">
                <a:solidFill>
                  <a:srgbClr val="8A93A3"/>
                </a:solidFill>
                <a:latin typeface="Consolas"/>
              </a:rPr>
              <a:t>THE VERDICT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3444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2DE2E6"/>
                </a:solidFill>
                <a:latin typeface="Arial"/>
              </a:rPr>
              <a:t>Build P1.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E8EAED"/>
                </a:solidFill>
                <a:latin typeface="Arial"/>
              </a:rPr>
              <a:t>Crack in Johor, pipe hydrogen, fire it in an H-class CCGT.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236976"/>
            <a:ext cx="292608" cy="292608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AED"/>
                </a:solidFill>
                <a:latin typeface="Arial"/>
              </a:rPr>
              <a:t>More efficient, on real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2958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≈54.4% vs ≈50.7% to the busbar — hydrogen's H-class turbine more than offsets the cracking step.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078224"/>
            <a:ext cx="292608" cy="292608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40416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AED"/>
                </a:solidFill>
                <a:latin typeface="Arial"/>
              </a:rPr>
              <a:t>More mature &amp; cleaner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7083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Commercial H₂ turbines, carbon- and N₂O-free combustion; the ammonia hazard stays on the Malaysian side.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919472"/>
            <a:ext cx="292608" cy="292608"/>
          </a:xfrm>
          <a:prstGeom prst="rect">
            <a:avLst/>
          </a:prstGeom>
          <a:solidFill>
            <a:srgbClr val="2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882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E8EAED"/>
                </a:solidFill>
                <a:latin typeface="Arial"/>
              </a:rPr>
              <a:t>On-strategy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8A93A3"/>
                </a:solidFill>
                <a:latin typeface="Arial"/>
              </a:rPr>
              <a:t>Delivers hydrogen — the project's premise and Singapore's import posture — not just ammonia-to-power.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10927080" cy="77724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5806440"/>
            <a:ext cx="54864" cy="77724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60">
                <a:solidFill>
                  <a:srgbClr val="F4A93A"/>
                </a:solidFill>
                <a:latin typeface="Consolas"/>
              </a:rPr>
              <a:t>ONE NUMBER TO LOCK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3620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E8EAED"/>
                </a:solidFill>
                <a:latin typeface="Arial"/>
              </a:rPr>
              <a:t>Get OEM net-efficiency quotes for a 100% H₂ H-class CCGT and a 100% NH₃ CCGT at the project unit size. If a large ammonia turbine ever hits ~55%+, revisit P2 — until then, P1 wins on every axis.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216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4A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" y="6355080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8A93A3"/>
                </a:solidFill>
                <a:latin typeface="Consolas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733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20">
                <a:solidFill>
                  <a:srgbClr val="8A93A3"/>
                </a:solidFill>
                <a:latin typeface="Consolas"/>
              </a:rPr>
              <a:t>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373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spc="120">
                <a:solidFill>
                  <a:srgbClr val="2A2F3A"/>
                </a:solidFill>
                <a:latin typeface="Consolas"/>
              </a:rPr>
              <a:t>MYSGH2 · PERMUTATION STUDY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